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3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9" r:id="rId20"/>
    <p:sldId id="275" r:id="rId21"/>
    <p:sldId id="276" r:id="rId22"/>
    <p:sldId id="277" r:id="rId23"/>
    <p:sldId id="278" r:id="rId24"/>
  </p:sldIdLst>
  <p:sldSz cx="9601200" cy="12801600" type="A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7D2"/>
    <a:srgbClr val="151D2E"/>
    <a:srgbClr val="08223E"/>
    <a:srgbClr val="042743"/>
    <a:srgbClr val="F29D63"/>
    <a:srgbClr val="560F00"/>
    <a:srgbClr val="623541"/>
    <a:srgbClr val="CB60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E1A73D-E99A-457E-A465-E100003D10A6}" v="791" dt="2025-11-16T06:57:52.3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200150" y="2095078"/>
            <a:ext cx="7200900" cy="4456853"/>
          </a:xfrm>
        </p:spPr>
        <p:txBody>
          <a:bodyPr anchor="b"/>
          <a:lstStyle>
            <a:lvl1pPr algn="ctr">
              <a:defRPr sz="4725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200150" y="6723804"/>
            <a:ext cx="7200900" cy="3090756"/>
          </a:xfrm>
        </p:spPr>
        <p:txBody>
          <a:bodyPr/>
          <a:lstStyle>
            <a:lvl1pPr marL="0" indent="0" algn="ctr">
              <a:buNone/>
              <a:defRPr sz="1890"/>
            </a:lvl1pPr>
            <a:lvl2pPr marL="360045" indent="0" algn="ctr">
              <a:buNone/>
              <a:defRPr sz="1575"/>
            </a:lvl2pPr>
            <a:lvl3pPr marL="720090" indent="0" algn="ctr">
              <a:buNone/>
              <a:defRPr sz="1418"/>
            </a:lvl3pPr>
            <a:lvl4pPr marL="1080135" indent="0" algn="ctr">
              <a:buNone/>
              <a:defRPr sz="1260"/>
            </a:lvl4pPr>
            <a:lvl5pPr marL="1440180" indent="0" algn="ctr">
              <a:buNone/>
              <a:defRPr sz="1260"/>
            </a:lvl5pPr>
            <a:lvl6pPr marL="1800225" indent="0" algn="ctr">
              <a:buNone/>
              <a:defRPr sz="1260"/>
            </a:lvl6pPr>
            <a:lvl7pPr marL="2160270" indent="0" algn="ctr">
              <a:buNone/>
              <a:defRPr sz="1260"/>
            </a:lvl7pPr>
            <a:lvl8pPr marL="2520315" indent="0" algn="ctr">
              <a:buNone/>
              <a:defRPr sz="1260"/>
            </a:lvl8pPr>
            <a:lvl9pPr marL="2880360" indent="0" algn="ctr">
              <a:buNone/>
              <a:defRPr sz="126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15.11.2025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15.11.2025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55082" y="3191512"/>
            <a:ext cx="8281035" cy="5325109"/>
          </a:xfrm>
        </p:spPr>
        <p:txBody>
          <a:bodyPr anchor="b"/>
          <a:lstStyle>
            <a:lvl1pPr>
              <a:defRPr sz="4725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55082" y="8566999"/>
            <a:ext cx="8281035" cy="2800349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1pPr>
            <a:lvl2pPr marL="360045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2pPr>
            <a:lvl3pPr marL="720090" indent="0">
              <a:buNone/>
              <a:defRPr sz="1418">
                <a:solidFill>
                  <a:schemeClr val="tx1">
                    <a:tint val="82000"/>
                  </a:schemeClr>
                </a:solidFill>
              </a:defRPr>
            </a:lvl3pPr>
            <a:lvl4pPr marL="1080135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4pPr>
            <a:lvl5pPr marL="144018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5pPr>
            <a:lvl6pPr marL="1800225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6pPr>
            <a:lvl7pPr marL="216027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7pPr>
            <a:lvl8pPr marL="2520315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8pPr>
            <a:lvl9pPr marL="288036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15.11.2025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60083" y="3407833"/>
            <a:ext cx="4080510" cy="812249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860608" y="3407833"/>
            <a:ext cx="4080510" cy="812249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15.11.2025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61333" y="681568"/>
            <a:ext cx="8281035" cy="2474384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61334" y="3138171"/>
            <a:ext cx="4061757" cy="1537969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61334" y="4676140"/>
            <a:ext cx="4061757" cy="687789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860607" y="3138171"/>
            <a:ext cx="4081761" cy="1537969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860607" y="4676140"/>
            <a:ext cx="4081761" cy="687789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15.11.2025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15.11.2025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15.11.2025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081760" y="1843194"/>
            <a:ext cx="4860608" cy="9097433"/>
          </a:xfrm>
        </p:spPr>
        <p:txBody>
          <a:bodyPr/>
          <a:lstStyle>
            <a:lvl1pPr>
              <a:defRPr sz="2520"/>
            </a:lvl1pPr>
            <a:lvl2pPr>
              <a:defRPr sz="2205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15.11.2025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4081760" y="1843194"/>
            <a:ext cx="4860608" cy="9097433"/>
          </a:xfrm>
        </p:spPr>
        <p:txBody>
          <a:bodyPr/>
          <a:lstStyle>
            <a:lvl1pPr marL="0" indent="0">
              <a:buNone/>
              <a:defRPr sz="2520"/>
            </a:lvl1pPr>
            <a:lvl2pPr marL="360045" indent="0">
              <a:buNone/>
              <a:defRPr sz="2205"/>
            </a:lvl2pPr>
            <a:lvl3pPr marL="720090" indent="0">
              <a:buNone/>
              <a:defRPr sz="1890"/>
            </a:lvl3pPr>
            <a:lvl4pPr marL="1080135" indent="0">
              <a:buNone/>
              <a:defRPr sz="1575"/>
            </a:lvl4pPr>
            <a:lvl5pPr marL="1440180" indent="0">
              <a:buNone/>
              <a:defRPr sz="1575"/>
            </a:lvl5pPr>
            <a:lvl6pPr marL="1800225" indent="0">
              <a:buNone/>
              <a:defRPr sz="1575"/>
            </a:lvl6pPr>
            <a:lvl7pPr marL="2160270" indent="0">
              <a:buNone/>
              <a:defRPr sz="1575"/>
            </a:lvl7pPr>
            <a:lvl8pPr marL="2520315" indent="0">
              <a:buNone/>
              <a:defRPr sz="1575"/>
            </a:lvl8pPr>
            <a:lvl9pPr marL="2880360" indent="0">
              <a:buNone/>
              <a:defRPr sz="1575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15.11.2025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15.11.2025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870859" y="681567"/>
            <a:ext cx="2070259" cy="1084876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60083" y="681567"/>
            <a:ext cx="6090761" cy="10848764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15.11.2025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660083" y="681568"/>
            <a:ext cx="8281035" cy="2474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60083" y="3407833"/>
            <a:ext cx="8281035" cy="8122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60083" y="11865187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15.11.2025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80398" y="11865187"/>
            <a:ext cx="3240405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780848" y="11865187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EF754-BDD7-0711-9F9E-1BE0A8BA8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3D1C9F4-5911-E9C0-D23E-EC85DAC47FE2}"/>
              </a:ext>
            </a:extLst>
          </p:cNvPr>
          <p:cNvSpPr/>
          <p:nvPr/>
        </p:nvSpPr>
        <p:spPr>
          <a:xfrm>
            <a:off x="-92320" y="3620"/>
            <a:ext cx="9643610" cy="12794101"/>
          </a:xfrm>
          <a:prstGeom prst="rect">
            <a:avLst/>
          </a:prstGeom>
          <a:solidFill>
            <a:srgbClr val="0822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Imagem 7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AB3087A0-95EF-4CE9-33CD-E0B05E39AD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815" y="1735792"/>
            <a:ext cx="8908675" cy="8227358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84A9B027-AC16-A274-AAEA-6BE2198CB9C3}"/>
              </a:ext>
            </a:extLst>
          </p:cNvPr>
          <p:cNvSpPr txBox="1"/>
          <p:nvPr/>
        </p:nvSpPr>
        <p:spPr>
          <a:xfrm>
            <a:off x="616238" y="518747"/>
            <a:ext cx="836406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5400" dirty="0">
                <a:solidFill>
                  <a:schemeClr val="bg1"/>
                </a:solidFill>
                <a:latin typeface="MS PGothic"/>
                <a:ea typeface="MS PGothic"/>
              </a:rPr>
              <a:t>CÓDIGO QUE TRANFORMA</a:t>
            </a:r>
            <a:endParaRPr lang="pt-BR" sz="5400">
              <a:solidFill>
                <a:schemeClr val="bg1"/>
              </a:solidFill>
              <a:latin typeface="MS PGothic"/>
              <a:ea typeface="MS PGothic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3C143C7-A139-ADE7-43EE-075E880194C7}"/>
              </a:ext>
            </a:extLst>
          </p:cNvPr>
          <p:cNvSpPr txBox="1"/>
          <p:nvPr/>
        </p:nvSpPr>
        <p:spPr>
          <a:xfrm>
            <a:off x="-168864" y="10286742"/>
            <a:ext cx="9628093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800" dirty="0">
                <a:solidFill>
                  <a:schemeClr val="bg2">
                    <a:lumMod val="90000"/>
                  </a:schemeClr>
                </a:solidFill>
                <a:latin typeface="MS PGothic"/>
                <a:ea typeface="MS PGothic"/>
              </a:rPr>
              <a:t> Elas estão reprogramando o próprio futuro</a:t>
            </a:r>
            <a:endParaRPr lang="pt-BR">
              <a:solidFill>
                <a:schemeClr val="bg2">
                  <a:lumMod val="90000"/>
                </a:schemeClr>
              </a:solidFill>
              <a:latin typeface="MS PGothic"/>
              <a:ea typeface="MS PGothic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C9CED3D-CF8B-4F5B-2FD2-3EFDAD5CEE28}"/>
              </a:ext>
            </a:extLst>
          </p:cNvPr>
          <p:cNvSpPr txBox="1"/>
          <p:nvPr/>
        </p:nvSpPr>
        <p:spPr>
          <a:xfrm>
            <a:off x="3097390" y="11876035"/>
            <a:ext cx="309282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800" dirty="0">
                <a:solidFill>
                  <a:srgbClr val="00A7D2"/>
                </a:solidFill>
              </a:rPr>
              <a:t>Ana Paula Santana</a:t>
            </a:r>
          </a:p>
        </p:txBody>
      </p:sp>
    </p:spTree>
    <p:extLst>
      <p:ext uri="{BB962C8B-B14F-4D97-AF65-F5344CB8AC3E}">
        <p14:creationId xmlns:p14="http://schemas.microsoft.com/office/powerpoint/2010/main" val="1294962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F54EA438-82D0-8F82-093F-C0FAEB6B2AA9}"/>
              </a:ext>
            </a:extLst>
          </p:cNvPr>
          <p:cNvSpPr txBox="1"/>
          <p:nvPr/>
        </p:nvSpPr>
        <p:spPr>
          <a:xfrm>
            <a:off x="445782" y="3194817"/>
            <a:ext cx="8754289" cy="94487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dirty="0">
                <a:latin typeface="Georgia"/>
                <a:ea typeface="+mn-lt"/>
                <a:cs typeface="+mn-lt"/>
              </a:rPr>
              <a:t>Durante muito tempo, o mundo da tecnologia foi visto como um território distante, feito para poucos, falado em outra língua, com portas que pareciam fechadas para quem vinha da periferia. Mas isso está mudando.</a:t>
            </a:r>
          </a:p>
          <a:p>
            <a:endParaRPr lang="pt-BR" sz="3200" dirty="0">
              <a:latin typeface="Georgia"/>
              <a:ea typeface="+mn-lt"/>
              <a:cs typeface="+mn-lt"/>
            </a:endParaRPr>
          </a:p>
          <a:p>
            <a:r>
              <a:rPr lang="pt-BR" sz="3200" dirty="0">
                <a:latin typeface="Georgia"/>
                <a:ea typeface="+mn-lt"/>
                <a:cs typeface="+mn-lt"/>
              </a:rPr>
              <a:t>Este e-book conta as histórias de mulheres que ousaram atravessar essas barreiras.</a:t>
            </a:r>
            <a:endParaRPr lang="pt-BR">
              <a:latin typeface="Georgia"/>
              <a:ea typeface="+mn-lt"/>
              <a:cs typeface="+mn-lt"/>
            </a:endParaRPr>
          </a:p>
          <a:p>
            <a:r>
              <a:rPr lang="pt-BR" sz="3200" dirty="0">
                <a:latin typeface="Georgia"/>
                <a:ea typeface="+mn-lt"/>
                <a:cs typeface="+mn-lt"/>
              </a:rPr>
              <a:t> Mulheres que transformaram a falta de oportunidades em combustível para reinventar suas trajetórias.</a:t>
            </a:r>
            <a:endParaRPr lang="pt-BR">
              <a:latin typeface="Georgia"/>
              <a:ea typeface="+mn-lt"/>
              <a:cs typeface="+mn-lt"/>
            </a:endParaRPr>
          </a:p>
          <a:p>
            <a:endParaRPr lang="pt-BR" sz="3200" dirty="0">
              <a:latin typeface="Georgia"/>
              <a:ea typeface="+mn-lt"/>
              <a:cs typeface="+mn-lt"/>
            </a:endParaRPr>
          </a:p>
          <a:p>
            <a:r>
              <a:rPr lang="pt-BR" sz="3200" dirty="0">
                <a:latin typeface="Georgia"/>
                <a:ea typeface="+mn-lt"/>
                <a:cs typeface="+mn-lt"/>
              </a:rPr>
              <a:t>Mais do que aprender sobre tecnologia, essas mulheres aprenderam a </a:t>
            </a:r>
            <a:r>
              <a:rPr lang="pt-BR" sz="3200" i="1" dirty="0">
                <a:latin typeface="Georgia"/>
                <a:ea typeface="+mn-lt"/>
                <a:cs typeface="+mn-lt"/>
              </a:rPr>
              <a:t>reescrever suas próprias histórias</a:t>
            </a:r>
            <a:r>
              <a:rPr lang="pt-BR" sz="3200" dirty="0">
                <a:latin typeface="Georgia"/>
                <a:ea typeface="+mn-lt"/>
                <a:cs typeface="+mn-lt"/>
              </a:rPr>
              <a:t> e, com isso, estão transformando o futuro de toda uma geração.</a:t>
            </a:r>
            <a:endParaRPr lang="pt-BR">
              <a:latin typeface="Georgia"/>
              <a:ea typeface="+mn-lt"/>
              <a:cs typeface="+mn-lt"/>
            </a:endParaRPr>
          </a:p>
          <a:p>
            <a:r>
              <a:rPr lang="pt-BR" sz="3200" dirty="0">
                <a:latin typeface="Georgia"/>
                <a:ea typeface="+mn-lt"/>
                <a:cs typeface="+mn-lt"/>
              </a:rPr>
              <a:t>Este livro é para elas e para todas que ainda acreditam que o lugar onde você nasceu não define o tamanho do seu potencial.</a:t>
            </a:r>
            <a:endParaRPr lang="pt-BR" dirty="0">
              <a:latin typeface="Georgia"/>
              <a:ea typeface="+mn-lt"/>
              <a:cs typeface="+mn-lt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885DFE7-7C59-E1CD-8844-AC3B9B40F8BF}"/>
              </a:ext>
            </a:extLst>
          </p:cNvPr>
          <p:cNvSpPr txBox="1"/>
          <p:nvPr/>
        </p:nvSpPr>
        <p:spPr>
          <a:xfrm>
            <a:off x="598395" y="188259"/>
            <a:ext cx="8377517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5400" dirty="0">
                <a:latin typeface="MS PGothic"/>
                <a:ea typeface="MS PGothic"/>
              </a:rPr>
              <a:t>CÓDIGO QUE TRANFORMA</a:t>
            </a:r>
            <a:endParaRPr lang="en-US" sz="5400" dirty="0">
              <a:latin typeface="MS PGothic"/>
              <a:ea typeface="MS PGothic"/>
            </a:endParaRPr>
          </a:p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DBA689C-85B0-81B1-3932-C6F8B2D52423}"/>
              </a:ext>
            </a:extLst>
          </p:cNvPr>
          <p:cNvSpPr txBox="1"/>
          <p:nvPr/>
        </p:nvSpPr>
        <p:spPr>
          <a:xfrm>
            <a:off x="463923" y="1398493"/>
            <a:ext cx="8673350" cy="18466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800" dirty="0">
                <a:latin typeface="MS PGothic"/>
                <a:ea typeface="MS PGothic"/>
              </a:rPr>
              <a:t>Elas estão reprogramando o próprio futuro</a:t>
            </a:r>
            <a:endParaRPr lang="en-US" sz="4800" dirty="0">
              <a:latin typeface="MS PGothic"/>
              <a:ea typeface="MS PGothic"/>
            </a:endParaRPr>
          </a:p>
          <a:p>
            <a:pPr algn="ctr"/>
            <a:endParaRPr lang="pt-BR"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230711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477E7-5AB9-5C8E-785F-9CA99CFF2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6C8CC0B6-17B6-0D95-7647-935657422477}"/>
              </a:ext>
            </a:extLst>
          </p:cNvPr>
          <p:cNvSpPr/>
          <p:nvPr/>
        </p:nvSpPr>
        <p:spPr>
          <a:xfrm>
            <a:off x="0" y="-30773"/>
            <a:ext cx="9693519" cy="12924692"/>
          </a:xfrm>
          <a:prstGeom prst="rect">
            <a:avLst/>
          </a:prstGeom>
          <a:solidFill>
            <a:srgbClr val="151D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D3F1F4B-0489-81C3-9B2E-E7CBA4CE5A3A}"/>
              </a:ext>
            </a:extLst>
          </p:cNvPr>
          <p:cNvSpPr txBox="1"/>
          <p:nvPr/>
        </p:nvSpPr>
        <p:spPr>
          <a:xfrm>
            <a:off x="340056" y="5524931"/>
            <a:ext cx="9009528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5400" dirty="0">
                <a:solidFill>
                  <a:srgbClr val="00A7D2"/>
                </a:solidFill>
                <a:latin typeface="MS PGothic"/>
                <a:ea typeface="+mn-lt"/>
                <a:cs typeface="+mn-lt"/>
              </a:rPr>
              <a:t>A Situação: Onde Tudo Começa</a:t>
            </a:r>
            <a:endParaRPr lang="pt-BR" sz="5400">
              <a:latin typeface="MS PGothic"/>
              <a:ea typeface="MS PGothic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7A5CDD4-0221-BF4F-9A9B-77C48044DC28}"/>
              </a:ext>
            </a:extLst>
          </p:cNvPr>
          <p:cNvSpPr txBox="1"/>
          <p:nvPr/>
        </p:nvSpPr>
        <p:spPr>
          <a:xfrm>
            <a:off x="8429237" y="348848"/>
            <a:ext cx="904057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9600" dirty="0">
                <a:solidFill>
                  <a:schemeClr val="bg1"/>
                </a:solidFill>
                <a:latin typeface="MS PGothic"/>
                <a:ea typeface="MS PGothic"/>
              </a:rPr>
              <a:t>1</a:t>
            </a:r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7529033-086B-7627-A3E6-FC2941C1672B}"/>
              </a:ext>
            </a:extLst>
          </p:cNvPr>
          <p:cNvSpPr txBox="1"/>
          <p:nvPr/>
        </p:nvSpPr>
        <p:spPr>
          <a:xfrm>
            <a:off x="460563" y="7579486"/>
            <a:ext cx="8659904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4400" dirty="0">
                <a:solidFill>
                  <a:schemeClr val="bg1"/>
                </a:solidFill>
                <a:latin typeface="MS PGothic"/>
                <a:ea typeface="+mn-lt"/>
                <a:cs typeface="+mn-lt"/>
              </a:rPr>
              <a:t>A realidade das mulheres periféricas antes do acesso à tecnologia</a:t>
            </a:r>
            <a:endParaRPr lang="pt-BR" sz="4400">
              <a:solidFill>
                <a:schemeClr val="bg1"/>
              </a:solidFill>
              <a:latin typeface="MS PGothic"/>
              <a:ea typeface="MS PGothic"/>
            </a:endParaRPr>
          </a:p>
        </p:txBody>
      </p:sp>
    </p:spTree>
    <p:extLst>
      <p:ext uri="{BB962C8B-B14F-4D97-AF65-F5344CB8AC3E}">
        <p14:creationId xmlns:p14="http://schemas.microsoft.com/office/powerpoint/2010/main" val="2083581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7007E-384B-63C4-A0DA-1B8D15234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AB189464-F8A4-C3C3-9681-243B73E04925}"/>
              </a:ext>
            </a:extLst>
          </p:cNvPr>
          <p:cNvSpPr txBox="1"/>
          <p:nvPr/>
        </p:nvSpPr>
        <p:spPr>
          <a:xfrm>
            <a:off x="472676" y="2630041"/>
            <a:ext cx="8754289" cy="994118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dirty="0">
                <a:latin typeface="Georgia"/>
                <a:ea typeface="+mn-lt"/>
                <a:cs typeface="+mn-lt"/>
              </a:rPr>
              <a:t>muitas mulheres nas periferias vivem em famílias com baixa renda, com múltiplas responsabilidades, trabalho informal ou doméstico, cuidados familiares, o que já coloca o primeiro obstáculo antes de pensar em estudar tecnologia.</a:t>
            </a:r>
            <a:endParaRPr lang="pt-BR" sz="3200">
              <a:latin typeface="Georgia"/>
              <a:ea typeface="+mn-lt"/>
              <a:cs typeface="+mn-lt"/>
            </a:endParaRPr>
          </a:p>
          <a:p>
            <a:r>
              <a:rPr lang="pt-BR" sz="3200" dirty="0">
                <a:latin typeface="Georgia"/>
                <a:ea typeface="+mn-lt"/>
                <a:cs typeface="+mn-lt"/>
              </a:rPr>
              <a:t>pesquisas mostram que mulheres representam menos de 18% dos estudantes em cursos de tecnologia da informação no Brasil.</a:t>
            </a:r>
            <a:endParaRPr lang="pt-BR" sz="3200">
              <a:latin typeface="Georgia"/>
              <a:ea typeface="+mn-lt"/>
              <a:cs typeface="+mn-lt"/>
            </a:endParaRPr>
          </a:p>
          <a:p>
            <a:endParaRPr lang="pt-BR" sz="3200" dirty="0">
              <a:latin typeface="Georgia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pt-BR" sz="3200" dirty="0">
                <a:latin typeface="Georgia"/>
                <a:ea typeface="+mn-lt"/>
                <a:cs typeface="+mn-lt"/>
              </a:rPr>
              <a:t>Exemplo: Nina Silva, nascida no Jardim Catarina (São Gonçalo/RJ), relata que “o sistema está sempre te jogando para fora”. </a:t>
            </a:r>
          </a:p>
          <a:p>
            <a:r>
              <a:rPr lang="pt-BR" sz="3200" dirty="0">
                <a:latin typeface="Georgia"/>
                <a:ea typeface="+mn-lt"/>
                <a:cs typeface="+mn-lt"/>
              </a:rPr>
              <a:t>   -SINDPD</a:t>
            </a:r>
            <a:endParaRPr lang="pt-BR" sz="3200" dirty="0">
              <a:latin typeface="Georgia"/>
            </a:endParaRPr>
          </a:p>
          <a:p>
            <a:pPr marL="285750" indent="-285750">
              <a:buFont typeface="Arial"/>
              <a:buChar char="•"/>
            </a:pPr>
            <a:r>
              <a:rPr lang="pt-BR" sz="3200" dirty="0">
                <a:latin typeface="Georgia"/>
                <a:ea typeface="+mn-lt"/>
                <a:cs typeface="+mn-lt"/>
              </a:rPr>
              <a:t>Depoimentos de mulheres de periferia apontam como os vieses (raciais, de classe, gênero) e baixa auto­estima aparecem mesmo antes de entrar na tecnologia. -Meio e Mensagem</a:t>
            </a:r>
            <a:endParaRPr lang="pt-BR" dirty="0">
              <a:latin typeface="Georgia"/>
            </a:endParaRPr>
          </a:p>
          <a:p>
            <a:endParaRPr lang="pt-BR" sz="3200" dirty="0">
              <a:ea typeface="+mn-lt"/>
              <a:cs typeface="+mn-lt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31C11B6-803D-0E16-D3DE-BB5F8F3DD1F5}"/>
              </a:ext>
            </a:extLst>
          </p:cNvPr>
          <p:cNvSpPr txBox="1"/>
          <p:nvPr/>
        </p:nvSpPr>
        <p:spPr>
          <a:xfrm>
            <a:off x="463923" y="322728"/>
            <a:ext cx="8673350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800" dirty="0">
                <a:latin typeface="MS PGothic"/>
                <a:ea typeface="+mn-lt"/>
                <a:cs typeface="+mn-lt"/>
              </a:rPr>
              <a:t>A realidade das mulheres periféricas antes do acesso à tecnologia.</a:t>
            </a:r>
            <a:endParaRPr lang="pt-BR" sz="4800">
              <a:latin typeface="MS PGothic"/>
              <a:ea typeface="MS PGothic"/>
            </a:endParaRPr>
          </a:p>
          <a:p>
            <a:pPr algn="ctr"/>
            <a:endParaRPr lang="pt-BR"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38817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E4AE4-D59E-1EE3-891F-9377962E9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B46DA02D-548E-8BEB-2980-80A046A9D48C}"/>
              </a:ext>
            </a:extLst>
          </p:cNvPr>
          <p:cNvSpPr txBox="1"/>
          <p:nvPr/>
        </p:nvSpPr>
        <p:spPr>
          <a:xfrm>
            <a:off x="418888" y="962606"/>
            <a:ext cx="8754289" cy="1092606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dirty="0">
                <a:latin typeface="Georgia"/>
                <a:ea typeface="+mn-lt"/>
                <a:cs typeface="+mn-lt"/>
              </a:rPr>
              <a:t>Quando você cresce num bairro onde a prioridade imediata é </a:t>
            </a:r>
            <a:r>
              <a:rPr lang="pt-BR" sz="3200" i="1" dirty="0">
                <a:latin typeface="Georgia"/>
                <a:ea typeface="+mn-lt"/>
                <a:cs typeface="+mn-lt"/>
              </a:rPr>
              <a:t>trabalhar para ajudar em casa</a:t>
            </a:r>
            <a:r>
              <a:rPr lang="pt-BR" sz="3200" dirty="0">
                <a:latin typeface="Georgia"/>
                <a:ea typeface="+mn-lt"/>
                <a:cs typeface="+mn-lt"/>
              </a:rPr>
              <a:t>, os sonhos de entrar numa área técnica como TI ficam à margem e muitas vezes invisibilizados.</a:t>
            </a:r>
            <a:endParaRPr lang="pt-BR" sz="3200">
              <a:latin typeface="Georgia"/>
              <a:ea typeface="+mn-lt"/>
              <a:cs typeface="+mn-lt"/>
            </a:endParaRPr>
          </a:p>
          <a:p>
            <a:endParaRPr lang="pt-BR" sz="3200" dirty="0">
              <a:latin typeface="Georgia"/>
              <a:ea typeface="+mn-lt"/>
              <a:cs typeface="+mn-lt"/>
            </a:endParaRPr>
          </a:p>
          <a:p>
            <a:pPr>
              <a:buFont typeface="Arial"/>
            </a:pPr>
            <a:r>
              <a:rPr lang="pt-BR" sz="3200" dirty="0">
                <a:latin typeface="Georgia"/>
                <a:ea typeface="+mn-lt"/>
                <a:cs typeface="+mn-lt"/>
              </a:rPr>
              <a:t> Essa base desfavorável não é falha individual é um sistema histórico, social, que exige resistência. Mas ela também carrega potência.</a:t>
            </a:r>
            <a:endParaRPr lang="pt-BR" sz="3200">
              <a:latin typeface="Georgia"/>
            </a:endParaRPr>
          </a:p>
          <a:p>
            <a:endParaRPr lang="pt-BR" sz="3200" dirty="0">
              <a:latin typeface="Georgia"/>
            </a:endParaRPr>
          </a:p>
          <a:p>
            <a:r>
              <a:rPr lang="pt-BR" sz="3200" dirty="0">
                <a:latin typeface="Georgia"/>
                <a:ea typeface="Roboto Condensed"/>
                <a:cs typeface="Roboto Condensed"/>
              </a:rPr>
              <a:t>A verdade é que à medida que nos esforçamos para construir uma sociedade mais inclusiva e diversa, é essencial que reconheçamos e valorizemos os saberes das mulheres, sobretudo as que mais sofrem com a invisibilidade, seja de governos ou empresas. Seus ensinamentos sobre resiliência, criatividade e colaboração podem ajudar a impulsionar a inovação e a promover um ambiente de trabalho mais equitativo e acolhedor para todas as mulheres, seja no setor da tecnologia ou outros. </a:t>
            </a:r>
            <a:endParaRPr lang="pt-BR" sz="3200">
              <a:latin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2418004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A7F2C-D58E-04EB-8FD2-9305B58B6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D800625-5652-E6F6-D29E-6DC8BE03ABA4}"/>
              </a:ext>
            </a:extLst>
          </p:cNvPr>
          <p:cNvSpPr/>
          <p:nvPr/>
        </p:nvSpPr>
        <p:spPr>
          <a:xfrm>
            <a:off x="0" y="-30773"/>
            <a:ext cx="9693519" cy="12924692"/>
          </a:xfrm>
          <a:prstGeom prst="rect">
            <a:avLst/>
          </a:prstGeom>
          <a:solidFill>
            <a:srgbClr val="151D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74870E4-76F3-4A6D-5D94-AB49A68752AB}"/>
              </a:ext>
            </a:extLst>
          </p:cNvPr>
          <p:cNvSpPr txBox="1"/>
          <p:nvPr/>
        </p:nvSpPr>
        <p:spPr>
          <a:xfrm>
            <a:off x="340056" y="5524931"/>
            <a:ext cx="900952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5400" dirty="0">
                <a:solidFill>
                  <a:srgbClr val="00A7D2"/>
                </a:solidFill>
                <a:latin typeface="MS PGothic"/>
                <a:ea typeface="+mn-lt"/>
                <a:cs typeface="+mn-lt"/>
              </a:rPr>
              <a:t>A Tarefa: O Desejo de Mudar</a:t>
            </a:r>
            <a:endParaRPr lang="pt-BR" sz="5400">
              <a:latin typeface="MS PGothic"/>
              <a:ea typeface="MS PGothic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075119D-F2DC-1577-DAA8-B79CAEE793DD}"/>
              </a:ext>
            </a:extLst>
          </p:cNvPr>
          <p:cNvSpPr txBox="1"/>
          <p:nvPr/>
        </p:nvSpPr>
        <p:spPr>
          <a:xfrm>
            <a:off x="8429237" y="348848"/>
            <a:ext cx="904057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9600" dirty="0">
                <a:solidFill>
                  <a:schemeClr val="bg1"/>
                </a:solidFill>
                <a:latin typeface="MS PGothic"/>
                <a:ea typeface="MS PGothic"/>
              </a:rPr>
              <a:t>2</a:t>
            </a:r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51F5015-8B3A-0D60-32DB-D39309EC995C}"/>
              </a:ext>
            </a:extLst>
          </p:cNvPr>
          <p:cNvSpPr txBox="1"/>
          <p:nvPr/>
        </p:nvSpPr>
        <p:spPr>
          <a:xfrm>
            <a:off x="756399" y="7014710"/>
            <a:ext cx="8095128" cy="21236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4400" dirty="0">
                <a:solidFill>
                  <a:schemeClr val="bg1"/>
                </a:solidFill>
                <a:latin typeface="MS PGothic"/>
                <a:ea typeface="+mn-lt"/>
                <a:cs typeface="+mn-lt"/>
              </a:rPr>
              <a:t>O momento em que surge o desejo de reescrever a própria história</a:t>
            </a:r>
            <a:endParaRPr lang="pt-BR" sz="4400">
              <a:solidFill>
                <a:schemeClr val="bg1"/>
              </a:solidFill>
              <a:latin typeface="MS PGothic"/>
              <a:ea typeface="MS PGothic"/>
            </a:endParaRPr>
          </a:p>
        </p:txBody>
      </p:sp>
    </p:spTree>
    <p:extLst>
      <p:ext uri="{BB962C8B-B14F-4D97-AF65-F5344CB8AC3E}">
        <p14:creationId xmlns:p14="http://schemas.microsoft.com/office/powerpoint/2010/main" val="1587010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592AE-DA6D-B02A-7B63-D708A477C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D5B438F-A0D1-BCA5-547F-05ECA520CD1B}"/>
              </a:ext>
            </a:extLst>
          </p:cNvPr>
          <p:cNvSpPr txBox="1"/>
          <p:nvPr/>
        </p:nvSpPr>
        <p:spPr>
          <a:xfrm>
            <a:off x="472676" y="1419806"/>
            <a:ext cx="8700501" cy="104336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dirty="0">
                <a:latin typeface="Georgia"/>
                <a:ea typeface="+mn-lt"/>
                <a:cs typeface="+mn-lt"/>
              </a:rPr>
              <a:t>Quando a mulher da periferia diz para si mesma: “Quero mais”, “Preciso mudar minha trajetória”, “A tecnologia pode ser meu meio”, esse é o primeiro ato da tarefa. A tarefa não é apenas </a:t>
            </a:r>
            <a:r>
              <a:rPr lang="pt-BR" sz="3200" i="1" dirty="0">
                <a:latin typeface="Georgia"/>
                <a:ea typeface="+mn-lt"/>
                <a:cs typeface="+mn-lt"/>
              </a:rPr>
              <a:t>decidir</a:t>
            </a:r>
            <a:r>
              <a:rPr lang="pt-BR" sz="3200" dirty="0">
                <a:latin typeface="Georgia"/>
                <a:ea typeface="+mn-lt"/>
                <a:cs typeface="+mn-lt"/>
              </a:rPr>
              <a:t>, mas começar a buscar os meios: “Onde posso estudar?”, “Como posso entrar?”, “Que passos devo </a:t>
            </a:r>
            <a:r>
              <a:rPr lang="pt-BR" sz="3200" dirty="0" err="1">
                <a:latin typeface="Georgia"/>
                <a:ea typeface="+mn-lt"/>
                <a:cs typeface="+mn-lt"/>
              </a:rPr>
              <a:t>dar</a:t>
            </a:r>
            <a:r>
              <a:rPr lang="pt-BR" sz="3200" dirty="0">
                <a:latin typeface="Georgia"/>
                <a:ea typeface="+mn-lt"/>
                <a:cs typeface="+mn-lt"/>
              </a:rPr>
              <a:t>?”.</a:t>
            </a:r>
            <a:br>
              <a:rPr lang="pt-BR" sz="3200" dirty="0">
                <a:latin typeface="Georgia"/>
                <a:ea typeface="+mn-lt"/>
                <a:cs typeface="+mn-lt"/>
              </a:rPr>
            </a:br>
            <a:r>
              <a:rPr lang="pt-BR" sz="3200" dirty="0">
                <a:latin typeface="Georgia"/>
                <a:ea typeface="+mn-lt"/>
                <a:cs typeface="+mn-lt"/>
              </a:rPr>
              <a:t> Nesse momento, o sonho torna-se plano.</a:t>
            </a:r>
            <a:endParaRPr lang="pt-BR" sz="3200">
              <a:latin typeface="Georgia"/>
            </a:endParaRPr>
          </a:p>
          <a:p>
            <a:endParaRPr lang="pt-BR" sz="3200" dirty="0">
              <a:latin typeface="Georgia"/>
              <a:ea typeface="+mn-lt"/>
              <a:cs typeface="+mn-lt"/>
            </a:endParaRPr>
          </a:p>
          <a:p>
            <a:r>
              <a:rPr lang="pt-BR" sz="3200" dirty="0">
                <a:latin typeface="Georgia"/>
                <a:ea typeface="+mn-lt"/>
                <a:cs typeface="+mn-lt"/>
              </a:rPr>
              <a:t>“</a:t>
            </a:r>
            <a:r>
              <a:rPr lang="pt-BR" sz="3200" dirty="0" err="1">
                <a:latin typeface="Georgia"/>
                <a:ea typeface="+mn-lt"/>
                <a:cs typeface="+mn-lt"/>
              </a:rPr>
              <a:t>Luisa</a:t>
            </a:r>
            <a:r>
              <a:rPr lang="pt-BR" sz="3200" dirty="0">
                <a:latin typeface="Georgia"/>
                <a:ea typeface="+mn-lt"/>
                <a:cs typeface="+mn-lt"/>
              </a:rPr>
              <a:t>, mãe solo da periferia de Recife, descobriu o front-</a:t>
            </a:r>
            <a:r>
              <a:rPr lang="pt-BR" sz="3200" dirty="0" err="1">
                <a:latin typeface="Georgia"/>
                <a:ea typeface="+mn-lt"/>
                <a:cs typeface="+mn-lt"/>
              </a:rPr>
              <a:t>end</a:t>
            </a:r>
            <a:r>
              <a:rPr lang="pt-BR" sz="3200" dirty="0">
                <a:latin typeface="Georgia"/>
                <a:ea typeface="+mn-lt"/>
                <a:cs typeface="+mn-lt"/>
              </a:rPr>
              <a:t> em um evento gratuito e começou a estudar à noite após cuidar dos filhos.</a:t>
            </a:r>
            <a:br>
              <a:rPr lang="pt-BR" sz="3200" dirty="0">
                <a:latin typeface="Georgia"/>
                <a:ea typeface="+mn-lt"/>
                <a:cs typeface="+mn-lt"/>
              </a:rPr>
            </a:br>
            <a:r>
              <a:rPr lang="pt-BR" sz="3200" dirty="0">
                <a:latin typeface="Georgia"/>
                <a:ea typeface="+mn-lt"/>
                <a:cs typeface="+mn-lt"/>
              </a:rPr>
              <a:t> No seu bairro, a internet era instável, ela usava o </a:t>
            </a:r>
            <a:r>
              <a:rPr lang="pt-BR" sz="3200" dirty="0" err="1">
                <a:latin typeface="Georgia"/>
                <a:ea typeface="+mn-lt"/>
                <a:cs typeface="+mn-lt"/>
              </a:rPr>
              <a:t>wi-fi</a:t>
            </a:r>
            <a:r>
              <a:rPr lang="pt-BR" sz="3200" dirty="0">
                <a:latin typeface="Georgia"/>
                <a:ea typeface="+mn-lt"/>
                <a:cs typeface="+mn-lt"/>
              </a:rPr>
              <a:t> emprestado e o computador da escola pública. Ainda assim, ela se inscreveu num curso básico de HTML/CSS, depois se juntou a uma comunidade online de mulheres em TI, participou de lives e fóruns. Aos poucos, os </a:t>
            </a:r>
            <a:r>
              <a:rPr lang="pt-BR" sz="3200" dirty="0" err="1">
                <a:latin typeface="Georgia"/>
                <a:ea typeface="+mn-lt"/>
                <a:cs typeface="+mn-lt"/>
              </a:rPr>
              <a:t>quizzes</a:t>
            </a:r>
            <a:r>
              <a:rPr lang="pt-BR" sz="3200" dirty="0">
                <a:latin typeface="Georgia"/>
                <a:ea typeface="+mn-lt"/>
                <a:cs typeface="+mn-lt"/>
              </a:rPr>
              <a:t>, os desafios de codificação viraram hábito. </a:t>
            </a:r>
            <a:endParaRPr lang="pt-BR" sz="3200" dirty="0">
              <a:latin typeface="Georgia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37D9FA0-ABA6-753D-8D55-4547A2805733}"/>
              </a:ext>
            </a:extLst>
          </p:cNvPr>
          <p:cNvSpPr txBox="1"/>
          <p:nvPr/>
        </p:nvSpPr>
        <p:spPr>
          <a:xfrm>
            <a:off x="463923" y="322728"/>
            <a:ext cx="8673350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800" dirty="0">
                <a:latin typeface="MS PGothic"/>
                <a:ea typeface="+mn-lt"/>
                <a:cs typeface="+mn-lt"/>
              </a:rPr>
              <a:t>O despertar do desejo</a:t>
            </a:r>
            <a:endParaRPr lang="pt-BR" sz="4800">
              <a:latin typeface="MS PGothic"/>
              <a:ea typeface="MS PGothic"/>
            </a:endParaRPr>
          </a:p>
          <a:p>
            <a:pPr algn="ctr"/>
            <a:endParaRPr lang="pt-BR"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39430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293A6-04EA-2C43-76D3-55A768C8B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55C2801E-F889-4BA3-F434-94F1E117AC22}"/>
              </a:ext>
            </a:extLst>
          </p:cNvPr>
          <p:cNvSpPr txBox="1"/>
          <p:nvPr/>
        </p:nvSpPr>
        <p:spPr>
          <a:xfrm>
            <a:off x="445782" y="586088"/>
            <a:ext cx="8700501" cy="1092606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dirty="0">
                <a:latin typeface="Georgia"/>
                <a:ea typeface="+mn-lt"/>
                <a:cs typeface="+mn-lt"/>
              </a:rPr>
              <a:t>Ela mandava mensagens no fim da noite, trocava ideias com outras mulheres que também vinham da periferia.</a:t>
            </a:r>
            <a:br>
              <a:rPr lang="pt-BR" sz="3200" dirty="0">
                <a:latin typeface="Georgia"/>
                <a:ea typeface="+mn-lt"/>
                <a:cs typeface="+mn-lt"/>
              </a:rPr>
            </a:br>
            <a:r>
              <a:rPr lang="pt-BR" sz="3200" dirty="0">
                <a:latin typeface="Georgia"/>
                <a:ea typeface="+mn-lt"/>
                <a:cs typeface="+mn-lt"/>
              </a:rPr>
              <a:t> Hoje, apesar de ainda lidar com deslocamento e falta de equipamentos de qualidade, ela já está na trilha de transição de carreira para front-</a:t>
            </a:r>
            <a:r>
              <a:rPr lang="pt-BR" sz="3200" err="1">
                <a:latin typeface="Georgia"/>
                <a:ea typeface="+mn-lt"/>
                <a:cs typeface="+mn-lt"/>
              </a:rPr>
              <a:t>end</a:t>
            </a:r>
            <a:r>
              <a:rPr lang="pt-BR" sz="3200" dirty="0">
                <a:latin typeface="Georgia"/>
                <a:ea typeface="+mn-lt"/>
                <a:cs typeface="+mn-lt"/>
              </a:rPr>
              <a:t> </a:t>
            </a:r>
            <a:r>
              <a:rPr lang="pt-BR" sz="3200" err="1">
                <a:latin typeface="Georgia"/>
                <a:ea typeface="+mn-lt"/>
                <a:cs typeface="+mn-lt"/>
              </a:rPr>
              <a:t>junior</a:t>
            </a:r>
            <a:r>
              <a:rPr lang="pt-BR" sz="3200" dirty="0">
                <a:latin typeface="Georgia"/>
                <a:ea typeface="+mn-lt"/>
                <a:cs typeface="+mn-lt"/>
              </a:rPr>
              <a:t> e acredita que sua história pode inspirar a irmã mais nova.”</a:t>
            </a:r>
          </a:p>
          <a:p>
            <a:endParaRPr lang="pt-BR" sz="3200" dirty="0">
              <a:latin typeface="Georgia"/>
            </a:endParaRPr>
          </a:p>
          <a:p>
            <a:r>
              <a:rPr lang="pt-BR" sz="3200" dirty="0">
                <a:latin typeface="Georgia"/>
                <a:ea typeface="+mn-lt"/>
                <a:cs typeface="+mn-lt"/>
              </a:rPr>
              <a:t>A mudança começa com um desejo — mas para que o desejo vire plano, é preciso coragem para assumir que </a:t>
            </a:r>
            <a:r>
              <a:rPr lang="pt-BR" sz="3200" b="1" dirty="0">
                <a:latin typeface="Georgia"/>
                <a:ea typeface="+mn-lt"/>
                <a:cs typeface="+mn-lt"/>
              </a:rPr>
              <a:t>“sou protagonista da minha história”</a:t>
            </a:r>
            <a:r>
              <a:rPr lang="pt-BR" sz="3200" dirty="0">
                <a:latin typeface="Georgia"/>
                <a:ea typeface="+mn-lt"/>
                <a:cs typeface="+mn-lt"/>
              </a:rPr>
              <a:t>.</a:t>
            </a:r>
            <a:br>
              <a:rPr lang="pt-BR" sz="3200" dirty="0">
                <a:latin typeface="Georgia"/>
                <a:ea typeface="+mn-lt"/>
                <a:cs typeface="+mn-lt"/>
              </a:rPr>
            </a:br>
            <a:r>
              <a:rPr lang="pt-BR" sz="3200" dirty="0">
                <a:latin typeface="Georgia"/>
                <a:ea typeface="+mn-lt"/>
                <a:cs typeface="+mn-lt"/>
              </a:rPr>
              <a:t> Qual é o desejo que você guarda dentro de si? Como você pode dar o primeiro passo hoje? Onde está o seu meio-ponto?</a:t>
            </a:r>
          </a:p>
          <a:p>
            <a:endParaRPr lang="pt-BR" sz="3200" dirty="0">
              <a:latin typeface="Georgia"/>
              <a:ea typeface="+mn-lt"/>
              <a:cs typeface="+mn-lt"/>
            </a:endParaRPr>
          </a:p>
          <a:p>
            <a:r>
              <a:rPr lang="pt-BR" sz="3200" dirty="0">
                <a:latin typeface="Georgia"/>
                <a:ea typeface="+mn-lt"/>
                <a:cs typeface="+mn-lt"/>
              </a:rPr>
              <a:t>Essa narrativa embora simplificada retrata com fidelidade muitos trajetos reais: lidar com múltiplas responsabilidades, aproveitar oportunidades gratuitas e construir rede de apoio.</a:t>
            </a:r>
            <a:endParaRPr lang="pt-BR" sz="3200">
              <a:latin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3487910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62751-AC9A-8C04-A0C5-0542DF1E6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BC21415-A20D-6C7D-46C5-0952C46C7CE7}"/>
              </a:ext>
            </a:extLst>
          </p:cNvPr>
          <p:cNvSpPr/>
          <p:nvPr/>
        </p:nvSpPr>
        <p:spPr>
          <a:xfrm>
            <a:off x="0" y="-30773"/>
            <a:ext cx="9693519" cy="12924692"/>
          </a:xfrm>
          <a:prstGeom prst="rect">
            <a:avLst/>
          </a:prstGeom>
          <a:solidFill>
            <a:srgbClr val="151D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20F48E7-3C3B-1215-E178-7E588A699AD2}"/>
              </a:ext>
            </a:extLst>
          </p:cNvPr>
          <p:cNvSpPr txBox="1"/>
          <p:nvPr/>
        </p:nvSpPr>
        <p:spPr>
          <a:xfrm>
            <a:off x="340056" y="5524931"/>
            <a:ext cx="900952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5400" dirty="0">
                <a:solidFill>
                  <a:srgbClr val="00A7D2"/>
                </a:solidFill>
                <a:latin typeface="MS PGothic"/>
                <a:ea typeface="+mn-lt"/>
                <a:cs typeface="+mn-lt"/>
              </a:rPr>
              <a:t>A Ação: O Código da Coragem</a:t>
            </a:r>
            <a:endParaRPr lang="pt-BR" sz="5400">
              <a:latin typeface="MS PGothic"/>
              <a:ea typeface="MS PGothic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31235BC-6412-4CCC-FC5A-210B55A5220E}"/>
              </a:ext>
            </a:extLst>
          </p:cNvPr>
          <p:cNvSpPr txBox="1"/>
          <p:nvPr/>
        </p:nvSpPr>
        <p:spPr>
          <a:xfrm>
            <a:off x="8429237" y="348848"/>
            <a:ext cx="904057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9600" dirty="0">
                <a:solidFill>
                  <a:schemeClr val="bg1"/>
                </a:solidFill>
                <a:latin typeface="MS PGothic"/>
                <a:ea typeface="MS PGothic"/>
              </a:rPr>
              <a:t>3</a:t>
            </a:r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F10C7D9-042F-DE66-EA16-202128DB1811}"/>
              </a:ext>
            </a:extLst>
          </p:cNvPr>
          <p:cNvSpPr txBox="1"/>
          <p:nvPr/>
        </p:nvSpPr>
        <p:spPr>
          <a:xfrm>
            <a:off x="756399" y="7014710"/>
            <a:ext cx="8095128" cy="21236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4400" dirty="0">
                <a:solidFill>
                  <a:schemeClr val="bg1"/>
                </a:solidFill>
                <a:latin typeface="MS PGothic"/>
                <a:ea typeface="+mn-lt"/>
                <a:cs typeface="+mn-lt"/>
              </a:rPr>
              <a:t>Como essas mulheres enfrentaram o medo, o preconceito e a falta de acesso</a:t>
            </a:r>
            <a:endParaRPr lang="pt-BR" sz="4400">
              <a:solidFill>
                <a:schemeClr val="bg1"/>
              </a:solidFill>
              <a:latin typeface="MS PGothic"/>
              <a:ea typeface="MS PGothic"/>
            </a:endParaRPr>
          </a:p>
        </p:txBody>
      </p:sp>
    </p:spTree>
    <p:extLst>
      <p:ext uri="{BB962C8B-B14F-4D97-AF65-F5344CB8AC3E}">
        <p14:creationId xmlns:p14="http://schemas.microsoft.com/office/powerpoint/2010/main" val="2381467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A905B-15ED-2083-82AF-6C6194E0D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88242589-6B7A-FEB6-0B84-1B420A741829}"/>
              </a:ext>
            </a:extLst>
          </p:cNvPr>
          <p:cNvSpPr txBox="1"/>
          <p:nvPr/>
        </p:nvSpPr>
        <p:spPr>
          <a:xfrm>
            <a:off x="445782" y="1312231"/>
            <a:ext cx="8700501" cy="116955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dirty="0">
                <a:latin typeface="Georgia"/>
                <a:ea typeface="MS PGothic"/>
                <a:cs typeface="+mn-lt"/>
              </a:rPr>
              <a:t>Mas entre sonhar e realizar existe uma longa travessia feita de coragem, persistência e resiliência.</a:t>
            </a:r>
            <a:endParaRPr lang="pt-BR" sz="3200" dirty="0">
              <a:latin typeface="Georgia"/>
            </a:endParaRPr>
          </a:p>
          <a:p>
            <a:r>
              <a:rPr lang="pt-BR" sz="3200" dirty="0">
                <a:latin typeface="Georgia"/>
                <a:ea typeface="+mn-lt"/>
                <a:cs typeface="+mn-lt"/>
              </a:rPr>
              <a:t>A ação começa nos pequenos gestos: estudar à noite depois do trabalho, usar a internet emprestada do vizinho, levar o celular para a biblioteca pública, pedir ajuda em grupos de estudo.</a:t>
            </a:r>
          </a:p>
          <a:p>
            <a:r>
              <a:rPr lang="pt-BR" sz="3200" dirty="0">
                <a:latin typeface="Georgia"/>
                <a:ea typeface="+mn-lt"/>
                <a:cs typeface="+mn-lt"/>
              </a:rPr>
              <a:t>São passos simples, mas heroicos, que constroem um novo caminho.</a:t>
            </a:r>
            <a:endParaRPr lang="pt-BR" sz="3200">
              <a:latin typeface="Georgia"/>
              <a:ea typeface="+mn-lt"/>
              <a:cs typeface="+mn-lt"/>
            </a:endParaRPr>
          </a:p>
          <a:p>
            <a:endParaRPr lang="pt-BR" sz="3200" dirty="0">
              <a:latin typeface="Georgia"/>
            </a:endParaRPr>
          </a:p>
          <a:p>
            <a:r>
              <a:rPr lang="pt-BR" sz="3200" dirty="0">
                <a:latin typeface="Georgia"/>
                <a:ea typeface="+mn-lt"/>
                <a:cs typeface="+mn-lt"/>
              </a:rPr>
              <a:t>“Fernanda, da Zona Leste de São Paulo, lembra:</a:t>
            </a:r>
            <a:endParaRPr lang="pt-BR" sz="3200" dirty="0">
              <a:latin typeface="Georgia"/>
            </a:endParaRPr>
          </a:p>
          <a:p>
            <a:r>
              <a:rPr lang="pt-BR" sz="3200" dirty="0">
                <a:latin typeface="Georgia"/>
                <a:ea typeface="+mn-lt"/>
                <a:cs typeface="+mn-lt"/>
              </a:rPr>
              <a:t>‘Quando a gente sai da periferia em condição de vulnerabilidade, a primeira coisa é trabalhar… só depois pensar em faculdade.’</a:t>
            </a:r>
            <a:endParaRPr lang="pt-BR" sz="3200" dirty="0">
              <a:latin typeface="Georgia"/>
            </a:endParaRPr>
          </a:p>
          <a:p>
            <a:endParaRPr lang="pt-BR" sz="3200" dirty="0">
              <a:latin typeface="Georgia"/>
            </a:endParaRPr>
          </a:p>
          <a:p>
            <a:r>
              <a:rPr lang="pt-BR" sz="3200" dirty="0">
                <a:latin typeface="Georgia"/>
                <a:ea typeface="+mn-lt"/>
                <a:cs typeface="+mn-lt"/>
              </a:rPr>
              <a:t>Ela conciliava o emprego de caixa com o curso técnico de TI. Estudava no ônibus, no intervalo, nas madrugadas silenciosas. Entre o cansaço e o sonho, escolheu continuar. Cada código que digitava era uma forma de resistência.</a:t>
            </a:r>
            <a:endParaRPr lang="pt-BR" dirty="0">
              <a:latin typeface="Georgia"/>
            </a:endParaRPr>
          </a:p>
          <a:p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5834F20-3403-3B76-7865-B247CF9F7E5F}"/>
              </a:ext>
            </a:extLst>
          </p:cNvPr>
          <p:cNvSpPr txBox="1"/>
          <p:nvPr/>
        </p:nvSpPr>
        <p:spPr>
          <a:xfrm>
            <a:off x="463923" y="403411"/>
            <a:ext cx="8673350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800" dirty="0">
                <a:latin typeface="MS PGothic"/>
                <a:ea typeface="+mn-lt"/>
                <a:cs typeface="+mn-lt"/>
              </a:rPr>
              <a:t>O desejo foi o primeiro passo. </a:t>
            </a:r>
            <a:endParaRPr lang="pt-BR" sz="4800">
              <a:latin typeface="MS PGothic"/>
              <a:ea typeface="MS PGothic"/>
            </a:endParaRPr>
          </a:p>
          <a:p>
            <a:pPr algn="ctr"/>
            <a:endParaRPr lang="pt-BR" sz="3600" dirty="0"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0069829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7E095-8837-2816-7103-5B35CABA8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BE590004-4533-F99A-8048-6ED75D744144}"/>
              </a:ext>
            </a:extLst>
          </p:cNvPr>
          <p:cNvSpPr txBox="1"/>
          <p:nvPr/>
        </p:nvSpPr>
        <p:spPr>
          <a:xfrm>
            <a:off x="445782" y="586088"/>
            <a:ext cx="8700501" cy="1092606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dirty="0">
                <a:latin typeface="Georgia"/>
                <a:ea typeface="+mn-lt"/>
                <a:cs typeface="+mn-lt"/>
              </a:rPr>
              <a:t>Muitas mulheres enfrentam o preconceito silencioso.</a:t>
            </a:r>
          </a:p>
          <a:p>
            <a:r>
              <a:rPr lang="pt-BR" sz="3200" dirty="0">
                <a:latin typeface="Georgia"/>
                <a:ea typeface="+mn-lt"/>
                <a:cs typeface="+mn-lt"/>
              </a:rPr>
              <a:t>Ouviu-se tantas vezes: “Nossa, como você fala bem!”, “Você não </a:t>
            </a:r>
            <a:r>
              <a:rPr lang="pt-BR" sz="3200" err="1">
                <a:latin typeface="Georgia"/>
                <a:ea typeface="+mn-lt"/>
                <a:cs typeface="+mn-lt"/>
              </a:rPr>
              <a:t>parece</a:t>
            </a:r>
            <a:r>
              <a:rPr lang="pt-BR" sz="3200" dirty="0">
                <a:latin typeface="Georgia"/>
                <a:ea typeface="+mn-lt"/>
                <a:cs typeface="+mn-lt"/>
              </a:rPr>
              <a:t> da quebrada”.</a:t>
            </a:r>
          </a:p>
          <a:p>
            <a:r>
              <a:rPr lang="pt-BR" sz="3200" dirty="0">
                <a:latin typeface="Georgia"/>
                <a:ea typeface="+mn-lt"/>
                <a:cs typeface="+mn-lt"/>
              </a:rPr>
              <a:t>Essas frases, disfarçadas de elogio, escondem o peso das expectativas baixas.</a:t>
            </a:r>
          </a:p>
          <a:p>
            <a:endParaRPr lang="pt-BR" sz="3200" dirty="0">
              <a:latin typeface="Georgia"/>
              <a:ea typeface="+mn-lt"/>
              <a:cs typeface="+mn-lt"/>
            </a:endParaRPr>
          </a:p>
          <a:p>
            <a:r>
              <a:rPr lang="pt-BR" sz="3200" dirty="0">
                <a:latin typeface="Georgia"/>
                <a:ea typeface="+mn-lt"/>
                <a:cs typeface="+mn-lt"/>
              </a:rPr>
              <a:t>Mas Fernanda aprendeu que coragem não é a ausência do medo é agir mesmo tremendo.</a:t>
            </a:r>
          </a:p>
          <a:p>
            <a:r>
              <a:rPr lang="pt-BR" sz="3200" dirty="0">
                <a:latin typeface="Georgia"/>
                <a:ea typeface="+mn-lt"/>
                <a:cs typeface="+mn-lt"/>
              </a:rPr>
              <a:t>Ela encontrou apoio em comunidades como Generation Brasil, {reprograma}, </a:t>
            </a:r>
            <a:r>
              <a:rPr lang="pt-BR" sz="3200" err="1">
                <a:latin typeface="Georgia"/>
                <a:ea typeface="+mn-lt"/>
                <a:cs typeface="+mn-lt"/>
              </a:rPr>
              <a:t>WoMakersCode</a:t>
            </a:r>
            <a:r>
              <a:rPr lang="pt-BR" sz="3200" dirty="0">
                <a:latin typeface="Georgia"/>
                <a:ea typeface="+mn-lt"/>
                <a:cs typeface="+mn-lt"/>
              </a:rPr>
              <a:t> e Pretas em Tech, onde percebeu que não estava sozinha.</a:t>
            </a:r>
          </a:p>
          <a:p>
            <a:r>
              <a:rPr lang="pt-BR" sz="3200" dirty="0">
                <a:latin typeface="Georgia"/>
                <a:ea typeface="+mn-lt"/>
                <a:cs typeface="+mn-lt"/>
              </a:rPr>
              <a:t>Ali, aprendeu que cada mulher que vence uma barreira abre espaço para muitas outras passarem.</a:t>
            </a:r>
          </a:p>
          <a:p>
            <a:endParaRPr lang="pt-BR" sz="3200" dirty="0">
              <a:latin typeface="Georgia"/>
              <a:ea typeface="+mn-lt"/>
              <a:cs typeface="+mn-lt"/>
            </a:endParaRPr>
          </a:p>
          <a:p>
            <a:r>
              <a:rPr lang="pt-BR" sz="3200" dirty="0">
                <a:latin typeface="Georgia"/>
                <a:ea typeface="+mn-lt"/>
                <a:cs typeface="+mn-lt"/>
              </a:rPr>
              <a:t>A coragem é o código que conecta sonho e realidade.</a:t>
            </a:r>
          </a:p>
          <a:p>
            <a:r>
              <a:rPr lang="pt-BR" sz="3200" dirty="0">
                <a:latin typeface="Georgia"/>
                <a:ea typeface="+mn-lt"/>
                <a:cs typeface="+mn-lt"/>
              </a:rPr>
              <a:t>E cada ação, por menor que pareça, é uma declaração: “Eu pertenço a este lugar.”</a:t>
            </a:r>
          </a:p>
          <a:p>
            <a:endParaRPr lang="pt-BR" sz="3200" dirty="0">
              <a:latin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33034932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08731-4BAB-49E3-CD96-609C4333C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EE3A771-EC07-BC9A-356E-4292A36455AD}"/>
              </a:ext>
            </a:extLst>
          </p:cNvPr>
          <p:cNvSpPr/>
          <p:nvPr/>
        </p:nvSpPr>
        <p:spPr>
          <a:xfrm>
            <a:off x="0" y="-30773"/>
            <a:ext cx="9693519" cy="12924692"/>
          </a:xfrm>
          <a:prstGeom prst="rect">
            <a:avLst/>
          </a:prstGeom>
          <a:solidFill>
            <a:srgbClr val="151D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D0A64FE-8356-4482-D143-F0DDA838FBFD}"/>
              </a:ext>
            </a:extLst>
          </p:cNvPr>
          <p:cNvSpPr txBox="1"/>
          <p:nvPr/>
        </p:nvSpPr>
        <p:spPr>
          <a:xfrm>
            <a:off x="340056" y="5229096"/>
            <a:ext cx="900952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5400" dirty="0">
                <a:solidFill>
                  <a:srgbClr val="00A7D2"/>
                </a:solidFill>
                <a:latin typeface="MS PGothic"/>
                <a:ea typeface="+mn-lt"/>
                <a:cs typeface="+mn-lt"/>
              </a:rPr>
              <a:t>O Resultado:  Capítulo Final</a:t>
            </a:r>
            <a:endParaRPr lang="pt-BR" sz="5400">
              <a:solidFill>
                <a:srgbClr val="00A7D2"/>
              </a:solidFill>
              <a:latin typeface="MS PGothic"/>
              <a:ea typeface="MS PGothic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F3E1D0D-167C-D62D-F195-40E2B8305C92}"/>
              </a:ext>
            </a:extLst>
          </p:cNvPr>
          <p:cNvSpPr txBox="1"/>
          <p:nvPr/>
        </p:nvSpPr>
        <p:spPr>
          <a:xfrm>
            <a:off x="8429237" y="348848"/>
            <a:ext cx="904057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9600" dirty="0">
                <a:solidFill>
                  <a:schemeClr val="bg1"/>
                </a:solidFill>
                <a:latin typeface="MS PGothic"/>
                <a:ea typeface="MS PGothic"/>
              </a:rPr>
              <a:t>4</a:t>
            </a:r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31D1A2E-DE76-2BC7-DB8F-FFD807C9DC35}"/>
              </a:ext>
            </a:extLst>
          </p:cNvPr>
          <p:cNvSpPr txBox="1"/>
          <p:nvPr/>
        </p:nvSpPr>
        <p:spPr>
          <a:xfrm>
            <a:off x="810187" y="7283651"/>
            <a:ext cx="8095128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4400" dirty="0">
                <a:solidFill>
                  <a:schemeClr val="bg1"/>
                </a:solidFill>
                <a:latin typeface="MS PGothic"/>
                <a:ea typeface="+mn-lt"/>
                <a:cs typeface="+mn-lt"/>
              </a:rPr>
              <a:t>O resultado que ninguém esperava, mas todas construiram</a:t>
            </a:r>
            <a:endParaRPr lang="pt-BR">
              <a:solidFill>
                <a:schemeClr val="bg1"/>
              </a:solidFill>
              <a:latin typeface="MS PGothic"/>
            </a:endParaRPr>
          </a:p>
        </p:txBody>
      </p:sp>
    </p:spTree>
    <p:extLst>
      <p:ext uri="{BB962C8B-B14F-4D97-AF65-F5344CB8AC3E}">
        <p14:creationId xmlns:p14="http://schemas.microsoft.com/office/powerpoint/2010/main" val="40555649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95E90-64F4-3875-4E59-B93906E85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4DB0FA1D-44CE-0342-E197-AE3D601451E3}"/>
              </a:ext>
            </a:extLst>
          </p:cNvPr>
          <p:cNvSpPr txBox="1"/>
          <p:nvPr/>
        </p:nvSpPr>
        <p:spPr>
          <a:xfrm>
            <a:off x="445782" y="586088"/>
            <a:ext cx="8700501" cy="124033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dirty="0">
                <a:latin typeface="Georgia"/>
                <a:ea typeface="+mn-lt"/>
                <a:cs typeface="+mn-lt"/>
              </a:rPr>
              <a:t>Por muito tempo, disseram que o futuro não tinha o rosto da mulher da periferia. Que tecnologia era longe demais, difícil demais, feita para outras pessoas. Mas algo mudou — não por acaso, e sim porque milhares de mulheres decidiram mover o mundo, mesmo que fosse um milímetro por dia.</a:t>
            </a:r>
          </a:p>
          <a:p>
            <a:r>
              <a:rPr lang="pt-BR" sz="3200" dirty="0">
                <a:latin typeface="Georgia"/>
                <a:ea typeface="+mn-lt"/>
                <a:cs typeface="+mn-lt"/>
              </a:rPr>
              <a:t>Este capítulo é sobre o que acontece </a:t>
            </a:r>
            <a:r>
              <a:rPr lang="pt-BR" sz="3200" b="1" dirty="0">
                <a:latin typeface="Georgia"/>
                <a:ea typeface="+mn-lt"/>
                <a:cs typeface="+mn-lt"/>
              </a:rPr>
              <a:t>quando o esforço silencioso vira possibilidade</a:t>
            </a:r>
            <a:r>
              <a:rPr lang="pt-BR" sz="3200" dirty="0">
                <a:latin typeface="Georgia"/>
                <a:ea typeface="+mn-lt"/>
                <a:cs typeface="+mn-lt"/>
              </a:rPr>
              <a:t>, quando o sonho vira estrutura, quando a mulher que sempre ouviu “não” cria seu próprio “sim”.</a:t>
            </a:r>
            <a:endParaRPr lang="pt-BR" sz="3200">
              <a:latin typeface="Georgia"/>
            </a:endParaRPr>
          </a:p>
          <a:p>
            <a:r>
              <a:rPr lang="pt-BR" sz="3200" dirty="0">
                <a:latin typeface="Georgia"/>
                <a:ea typeface="+mn-lt"/>
                <a:cs typeface="+mn-lt"/>
              </a:rPr>
              <a:t>É sobre </a:t>
            </a:r>
            <a:r>
              <a:rPr lang="pt-BR" sz="3200" b="1" dirty="0">
                <a:latin typeface="Georgia"/>
                <a:ea typeface="+mn-lt"/>
                <a:cs typeface="+mn-lt"/>
              </a:rPr>
              <a:t>resultado, </a:t>
            </a:r>
            <a:r>
              <a:rPr lang="pt-BR" sz="3200" dirty="0">
                <a:latin typeface="Georgia"/>
                <a:ea typeface="+mn-lt"/>
                <a:cs typeface="+mn-lt"/>
              </a:rPr>
              <a:t>não apenas profissional, mas histórico, coletivo e emocional.</a:t>
            </a:r>
          </a:p>
          <a:p>
            <a:r>
              <a:rPr lang="pt-BR" sz="3200" dirty="0">
                <a:latin typeface="Georgia"/>
                <a:ea typeface="+mn-lt"/>
                <a:cs typeface="+mn-lt"/>
              </a:rPr>
              <a:t>Quando uma mulher da periferia entra na tecnologia, </a:t>
            </a:r>
            <a:r>
              <a:rPr lang="pt-BR" sz="3200" b="1" dirty="0">
                <a:latin typeface="Georgia"/>
                <a:ea typeface="+mn-lt"/>
                <a:cs typeface="+mn-lt"/>
              </a:rPr>
              <a:t>não é só um currículo que muda</a:t>
            </a:r>
            <a:r>
              <a:rPr lang="pt-BR" sz="3200" dirty="0">
                <a:latin typeface="Georgia"/>
                <a:ea typeface="+mn-lt"/>
                <a:cs typeface="+mn-lt"/>
              </a:rPr>
              <a:t>.</a:t>
            </a:r>
            <a:br>
              <a:rPr lang="pt-BR" sz="3200" dirty="0">
                <a:latin typeface="Georgia"/>
                <a:ea typeface="+mn-lt"/>
                <a:cs typeface="+mn-lt"/>
              </a:rPr>
            </a:br>
            <a:r>
              <a:rPr lang="pt-BR" sz="3200" dirty="0">
                <a:latin typeface="Georgia"/>
                <a:ea typeface="+mn-lt"/>
                <a:cs typeface="+mn-lt"/>
              </a:rPr>
              <a:t> Muda a economia da casa.</a:t>
            </a:r>
            <a:br>
              <a:rPr lang="pt-BR" sz="3200" dirty="0">
                <a:latin typeface="Georgia"/>
                <a:ea typeface="+mn-lt"/>
                <a:cs typeface="+mn-lt"/>
              </a:rPr>
            </a:br>
            <a:r>
              <a:rPr lang="pt-BR" sz="3200" dirty="0">
                <a:latin typeface="Georgia"/>
                <a:ea typeface="+mn-lt"/>
                <a:cs typeface="+mn-lt"/>
              </a:rPr>
              <a:t> Muda a autoestima.</a:t>
            </a:r>
            <a:br>
              <a:rPr lang="pt-BR" sz="3200" dirty="0">
                <a:latin typeface="Georgia"/>
                <a:ea typeface="+mn-lt"/>
                <a:cs typeface="+mn-lt"/>
              </a:rPr>
            </a:br>
            <a:r>
              <a:rPr lang="pt-BR" sz="3200" dirty="0">
                <a:latin typeface="Georgia"/>
                <a:ea typeface="+mn-lt"/>
                <a:cs typeface="+mn-lt"/>
              </a:rPr>
              <a:t> Muda o mapa mental das meninas que a observam.</a:t>
            </a:r>
            <a:br>
              <a:rPr lang="pt-BR" sz="3200" dirty="0">
                <a:latin typeface="Georgia"/>
                <a:ea typeface="+mn-lt"/>
                <a:cs typeface="+mn-lt"/>
              </a:rPr>
            </a:br>
            <a:r>
              <a:rPr lang="pt-BR" sz="3200" dirty="0">
                <a:latin typeface="Georgia"/>
                <a:ea typeface="+mn-lt"/>
                <a:cs typeface="+mn-lt"/>
              </a:rPr>
              <a:t> Muda o jeito como ela é tratada nos espaços onde antes era subestimada.</a:t>
            </a:r>
            <a:br>
              <a:rPr lang="pt-BR" sz="3200" dirty="0">
                <a:latin typeface="Georgia"/>
                <a:ea typeface="+mn-lt"/>
                <a:cs typeface="+mn-lt"/>
              </a:rPr>
            </a:br>
            <a:r>
              <a:rPr lang="pt-BR" sz="3200" dirty="0">
                <a:latin typeface="Georgia"/>
                <a:ea typeface="+mn-lt"/>
                <a:cs typeface="+mn-lt"/>
              </a:rPr>
              <a:t> Muda o futuro, o dela e o nosso.</a:t>
            </a:r>
            <a:endParaRPr lang="pt-BR" sz="3200">
              <a:latin typeface="Georgia"/>
            </a:endParaRPr>
          </a:p>
          <a:p>
            <a:endParaRPr lang="pt-BR" sz="3200" dirty="0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1483654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3F371-C75E-623A-773E-C18CA08D5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36D12F4E-A297-4FA6-7BDB-87F59E553072}"/>
              </a:ext>
            </a:extLst>
          </p:cNvPr>
          <p:cNvSpPr txBox="1"/>
          <p:nvPr/>
        </p:nvSpPr>
        <p:spPr>
          <a:xfrm>
            <a:off x="445782" y="586088"/>
            <a:ext cx="8700501" cy="114185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dirty="0">
                <a:latin typeface="Georgia"/>
                <a:ea typeface="+mn-lt"/>
                <a:cs typeface="+mn-lt"/>
              </a:rPr>
              <a:t>A cada aula feita do celular velho, a cada arquivo salvo em computador emprestado, a cada live assistida madrugada adentro, uma semente foi plantada. E agora, essas sementes viraram </a:t>
            </a:r>
            <a:r>
              <a:rPr lang="pt-BR" sz="3200" b="1" dirty="0">
                <a:latin typeface="Georgia"/>
                <a:ea typeface="+mn-lt"/>
                <a:cs typeface="+mn-lt"/>
              </a:rPr>
              <a:t>ações concretas, conquistas, portas abertas de dentro para fora</a:t>
            </a:r>
            <a:r>
              <a:rPr lang="pt-BR" sz="3200" dirty="0">
                <a:latin typeface="Georgia"/>
                <a:ea typeface="+mn-lt"/>
                <a:cs typeface="+mn-lt"/>
              </a:rPr>
              <a:t>.</a:t>
            </a:r>
            <a:endParaRPr lang="pt-BR" dirty="0">
              <a:latin typeface="Georgia"/>
            </a:endParaRPr>
          </a:p>
          <a:p>
            <a:endParaRPr lang="pt-BR" sz="3200" dirty="0"/>
          </a:p>
          <a:p>
            <a:pPr algn="ctr"/>
            <a:r>
              <a:rPr lang="pt-BR" sz="4800" b="1" dirty="0">
                <a:latin typeface="MS PGothic"/>
                <a:ea typeface="MS PGothic"/>
              </a:rPr>
              <a:t>Quando </a:t>
            </a:r>
            <a:r>
              <a:rPr lang="pt-BR" sz="4800" b="1" err="1">
                <a:latin typeface="MS PGothic"/>
                <a:ea typeface="MS PGothic"/>
              </a:rPr>
              <a:t>Luisa</a:t>
            </a:r>
            <a:r>
              <a:rPr lang="pt-BR" sz="4800" b="1" dirty="0">
                <a:latin typeface="MS PGothic"/>
                <a:ea typeface="MS PGothic"/>
              </a:rPr>
              <a:t> olha para trás, vê mais que um curso concluído</a:t>
            </a:r>
            <a:endParaRPr lang="pt-BR" sz="4800">
              <a:latin typeface="MS PGothic"/>
              <a:ea typeface="MS PGothic"/>
            </a:endParaRPr>
          </a:p>
          <a:p>
            <a:endParaRPr lang="pt-BR" sz="3200" dirty="0">
              <a:ea typeface="+mn-lt"/>
              <a:cs typeface="+mn-lt"/>
            </a:endParaRPr>
          </a:p>
          <a:p>
            <a:r>
              <a:rPr lang="pt-BR" sz="3200" dirty="0">
                <a:latin typeface="Georgia"/>
                <a:ea typeface="+mn-lt"/>
                <a:cs typeface="+mn-lt"/>
              </a:rPr>
              <a:t>Ela vê que transformou noites cansadas em um portfólio.</a:t>
            </a:r>
            <a:br>
              <a:rPr lang="pt-BR" sz="3200" dirty="0">
                <a:latin typeface="Georgia"/>
                <a:ea typeface="+mn-lt"/>
                <a:cs typeface="+mn-lt"/>
              </a:rPr>
            </a:br>
            <a:r>
              <a:rPr lang="pt-BR" sz="3200" dirty="0">
                <a:latin typeface="Georgia"/>
                <a:ea typeface="+mn-lt"/>
                <a:cs typeface="+mn-lt"/>
              </a:rPr>
              <a:t> Transformou o </a:t>
            </a:r>
            <a:r>
              <a:rPr lang="pt-BR" sz="3200" err="1">
                <a:latin typeface="Georgia"/>
                <a:ea typeface="+mn-lt"/>
                <a:cs typeface="+mn-lt"/>
              </a:rPr>
              <a:t>wi-fi</a:t>
            </a:r>
            <a:r>
              <a:rPr lang="pt-BR" sz="3200" dirty="0">
                <a:latin typeface="Georgia"/>
                <a:ea typeface="+mn-lt"/>
                <a:cs typeface="+mn-lt"/>
              </a:rPr>
              <a:t> emprestado em sua primeira página web.</a:t>
            </a:r>
            <a:br>
              <a:rPr lang="pt-BR" sz="3200" dirty="0">
                <a:latin typeface="Georgia"/>
                <a:ea typeface="+mn-lt"/>
                <a:cs typeface="+mn-lt"/>
              </a:rPr>
            </a:br>
            <a:r>
              <a:rPr lang="pt-BR" sz="3200" dirty="0">
                <a:latin typeface="Georgia"/>
                <a:ea typeface="+mn-lt"/>
                <a:cs typeface="+mn-lt"/>
              </a:rPr>
              <a:t> Transformou o medo de não ser suficiente em perguntas feitas sem vergonha.</a:t>
            </a:r>
            <a:br>
              <a:rPr lang="pt-BR" sz="3200" dirty="0">
                <a:latin typeface="Georgia"/>
                <a:ea typeface="+mn-lt"/>
                <a:cs typeface="+mn-lt"/>
              </a:rPr>
            </a:br>
            <a:r>
              <a:rPr lang="pt-BR" sz="3200" dirty="0">
                <a:latin typeface="Georgia"/>
                <a:ea typeface="+mn-lt"/>
                <a:cs typeface="+mn-lt"/>
              </a:rPr>
              <a:t> Transformou a solidão em comunidade.</a:t>
            </a:r>
            <a:endParaRPr lang="pt-BR" sz="3200">
              <a:latin typeface="Georgia"/>
            </a:endParaRPr>
          </a:p>
          <a:p>
            <a:r>
              <a:rPr lang="pt-BR" sz="3200" dirty="0">
                <a:latin typeface="Georgia"/>
                <a:ea typeface="+mn-lt"/>
                <a:cs typeface="+mn-lt"/>
              </a:rPr>
              <a:t>Hoje, na trilha para se tornar front-</a:t>
            </a:r>
            <a:r>
              <a:rPr lang="pt-BR" sz="3200" err="1">
                <a:latin typeface="Georgia"/>
                <a:ea typeface="+mn-lt"/>
                <a:cs typeface="+mn-lt"/>
              </a:rPr>
              <a:t>end</a:t>
            </a:r>
            <a:r>
              <a:rPr lang="pt-BR" sz="3200" dirty="0">
                <a:latin typeface="Georgia"/>
                <a:ea typeface="+mn-lt"/>
                <a:cs typeface="+mn-lt"/>
              </a:rPr>
              <a:t> júnior, </a:t>
            </a:r>
            <a:r>
              <a:rPr lang="pt-BR" sz="3200" err="1">
                <a:latin typeface="Georgia"/>
                <a:ea typeface="+mn-lt"/>
                <a:cs typeface="+mn-lt"/>
              </a:rPr>
              <a:t>Luisa</a:t>
            </a:r>
            <a:r>
              <a:rPr lang="pt-BR" sz="3200" dirty="0">
                <a:latin typeface="Georgia"/>
                <a:ea typeface="+mn-lt"/>
                <a:cs typeface="+mn-lt"/>
              </a:rPr>
              <a:t> não celebra apenas uma profissão.</a:t>
            </a:r>
            <a:br>
              <a:rPr lang="pt-BR" sz="3200" dirty="0">
                <a:latin typeface="Georgia"/>
                <a:ea typeface="+mn-lt"/>
                <a:cs typeface="+mn-lt"/>
              </a:rPr>
            </a:br>
            <a:r>
              <a:rPr lang="pt-BR" sz="3200" dirty="0">
                <a:latin typeface="Georgia"/>
                <a:ea typeface="+mn-lt"/>
                <a:cs typeface="+mn-lt"/>
              </a:rPr>
              <a:t> Ela celebra o fato de ter mostrado para os filhos que quebrar ciclos também é herança.</a:t>
            </a:r>
            <a:endParaRPr lang="pt-BR" sz="3200">
              <a:latin typeface="Georgia"/>
            </a:endParaRPr>
          </a:p>
          <a:p>
            <a:endParaRPr lang="pt-BR" sz="3200" dirty="0">
              <a:latin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27420138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DFD7A-85C9-D661-309C-C809A28C7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D20D3969-65E0-2625-D4C8-B5300F8FC0BD}"/>
              </a:ext>
            </a:extLst>
          </p:cNvPr>
          <p:cNvSpPr txBox="1"/>
          <p:nvPr/>
        </p:nvSpPr>
        <p:spPr>
          <a:xfrm>
            <a:off x="445782" y="370935"/>
            <a:ext cx="8700501" cy="106798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800" dirty="0">
                <a:latin typeface="MS PGothic"/>
                <a:ea typeface="+mn-lt"/>
                <a:cs typeface="+mn-lt"/>
              </a:rPr>
              <a:t>Quando Fernanda fala de sua trajetória, fala de dignidade</a:t>
            </a:r>
            <a:endParaRPr lang="pt-BR" sz="4800" dirty="0">
              <a:latin typeface="MS PGothic"/>
              <a:ea typeface="MS PGothic"/>
            </a:endParaRPr>
          </a:p>
          <a:p>
            <a:pPr algn="ctr"/>
            <a:endParaRPr lang="pt-BR" sz="4800" dirty="0">
              <a:latin typeface="MS PGothic"/>
              <a:ea typeface="+mn-lt"/>
              <a:cs typeface="+mn-lt"/>
            </a:endParaRPr>
          </a:p>
          <a:p>
            <a:r>
              <a:rPr lang="pt-BR" sz="3200" dirty="0">
                <a:latin typeface="Georgia"/>
                <a:ea typeface="+mn-lt"/>
                <a:cs typeface="+mn-lt"/>
              </a:rPr>
              <a:t>Ela diz que cada linha de código que escreveu foi uma forma de existir, de resistir, de provar que sua voz importa — mesmo quando o mundo tentava falar mais alto.</a:t>
            </a:r>
            <a:br>
              <a:rPr lang="pt-BR" sz="3200" dirty="0">
                <a:latin typeface="Georgia"/>
                <a:ea typeface="+mn-lt"/>
                <a:cs typeface="+mn-lt"/>
              </a:rPr>
            </a:br>
            <a:r>
              <a:rPr lang="pt-BR" sz="3200" dirty="0">
                <a:latin typeface="Georgia"/>
                <a:ea typeface="+mn-lt"/>
                <a:cs typeface="+mn-lt"/>
              </a:rPr>
              <a:t> E hoje, ao lado de tantas outras mulheres em comunidades como Generation Brasil, {reprograma}, </a:t>
            </a:r>
            <a:r>
              <a:rPr lang="pt-BR" sz="3200" dirty="0" err="1">
                <a:latin typeface="Georgia"/>
                <a:ea typeface="+mn-lt"/>
                <a:cs typeface="+mn-lt"/>
              </a:rPr>
              <a:t>WoMakersCode</a:t>
            </a:r>
            <a:r>
              <a:rPr lang="pt-BR" sz="3200" dirty="0">
                <a:latin typeface="Georgia"/>
                <a:ea typeface="+mn-lt"/>
                <a:cs typeface="+mn-lt"/>
              </a:rPr>
              <a:t> e Pretas em Tech, ela entende:</a:t>
            </a:r>
          </a:p>
          <a:p>
            <a:br>
              <a:rPr lang="pt-BR" sz="3200" dirty="0">
                <a:latin typeface="Georgia"/>
                <a:ea typeface="+mn-lt"/>
                <a:cs typeface="+mn-lt"/>
              </a:rPr>
            </a:br>
            <a:r>
              <a:rPr lang="pt-BR" sz="3200" dirty="0">
                <a:latin typeface="Georgia"/>
                <a:ea typeface="+mn-lt"/>
                <a:cs typeface="+mn-lt"/>
              </a:rPr>
              <a:t> </a:t>
            </a:r>
            <a:r>
              <a:rPr lang="pt-BR" sz="3200" b="1" dirty="0">
                <a:latin typeface="Georgia"/>
                <a:ea typeface="+mn-lt"/>
                <a:cs typeface="+mn-lt"/>
              </a:rPr>
              <a:t>não era sobre entrar sozinha, era sobre abrir espaço para todas passarem.</a:t>
            </a:r>
            <a:endParaRPr lang="pt-BR" sz="3200">
              <a:latin typeface="Georgia"/>
            </a:endParaRPr>
          </a:p>
          <a:p>
            <a:r>
              <a:rPr lang="pt-BR" sz="3200" dirty="0">
                <a:latin typeface="Georgia"/>
                <a:ea typeface="+mn-lt"/>
                <a:cs typeface="+mn-lt"/>
              </a:rPr>
              <a:t>O resultado, para ela, não foi apenas terminar um curso.</a:t>
            </a:r>
            <a:br>
              <a:rPr lang="pt-BR" sz="3200" dirty="0">
                <a:latin typeface="Georgia"/>
                <a:ea typeface="+mn-lt"/>
                <a:cs typeface="+mn-lt"/>
              </a:rPr>
            </a:br>
            <a:r>
              <a:rPr lang="pt-BR" sz="3200" dirty="0">
                <a:latin typeface="Georgia"/>
                <a:ea typeface="+mn-lt"/>
                <a:cs typeface="+mn-lt"/>
              </a:rPr>
              <a:t> Foi assumir o direito de ocupar lugares onde antes diziam que ela “não parecia caber”.</a:t>
            </a:r>
            <a:endParaRPr lang="pt-BR" sz="3200" dirty="0">
              <a:latin typeface="Georgia"/>
            </a:endParaRPr>
          </a:p>
          <a:p>
            <a:endParaRPr lang="pt-BR" sz="3200" dirty="0">
              <a:latin typeface="Georgia"/>
              <a:ea typeface="+mn-lt"/>
              <a:cs typeface="+mn-lt"/>
            </a:endParaRPr>
          </a:p>
          <a:p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26665221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E5EBB-45EF-5C99-C9FF-CAE6377A5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25CFDDD-3D54-EA95-D121-1F1C986F1BC5}"/>
              </a:ext>
            </a:extLst>
          </p:cNvPr>
          <p:cNvSpPr txBox="1"/>
          <p:nvPr/>
        </p:nvSpPr>
        <p:spPr>
          <a:xfrm>
            <a:off x="445782" y="370935"/>
            <a:ext cx="8700501" cy="981807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800" dirty="0">
                <a:latin typeface="MS PGothic"/>
                <a:ea typeface="MS PGothic"/>
                <a:cs typeface="+mn-lt"/>
              </a:rPr>
              <a:t>E você? Já percebeu que o resultado começa antes do diploma?</a:t>
            </a:r>
            <a:endParaRPr lang="en-US" sz="4800" dirty="0">
              <a:latin typeface="MS PGothic"/>
              <a:ea typeface="MS PGothic"/>
              <a:cs typeface="+mn-lt"/>
            </a:endParaRPr>
          </a:p>
          <a:p>
            <a:r>
              <a:rPr lang="pt-BR" sz="3200" dirty="0">
                <a:latin typeface="Georgia"/>
                <a:ea typeface="+mn-lt"/>
                <a:cs typeface="+mn-lt"/>
              </a:rPr>
              <a:t>O resultado está em:</a:t>
            </a:r>
            <a:endParaRPr lang="pt-BR" sz="3200">
              <a:latin typeface="Georgia"/>
              <a:ea typeface="+mn-lt"/>
              <a:cs typeface="+mn-lt"/>
            </a:endParaRPr>
          </a:p>
          <a:p>
            <a:r>
              <a:rPr lang="pt-BR" sz="3200" dirty="0">
                <a:latin typeface="Georgia"/>
                <a:ea typeface="+mn-lt"/>
                <a:cs typeface="+mn-lt"/>
              </a:rPr>
              <a:t> • conseguir dizer “eu posso” sem gaguejar</a:t>
            </a:r>
            <a:br>
              <a:rPr lang="pt-BR" sz="3200" dirty="0">
                <a:latin typeface="Georgia"/>
                <a:ea typeface="+mn-lt"/>
                <a:cs typeface="+mn-lt"/>
              </a:rPr>
            </a:br>
            <a:r>
              <a:rPr lang="pt-BR" sz="3200" dirty="0">
                <a:latin typeface="Georgia"/>
                <a:ea typeface="+mn-lt"/>
                <a:cs typeface="+mn-lt"/>
              </a:rPr>
              <a:t> • enviar o primeiro formulário de inscrição</a:t>
            </a:r>
            <a:br>
              <a:rPr lang="pt-BR" sz="3200" dirty="0">
                <a:latin typeface="Georgia"/>
                <a:ea typeface="+mn-lt"/>
                <a:cs typeface="+mn-lt"/>
              </a:rPr>
            </a:br>
            <a:r>
              <a:rPr lang="pt-BR" sz="3200" dirty="0">
                <a:latin typeface="Georgia"/>
                <a:ea typeface="+mn-lt"/>
                <a:cs typeface="+mn-lt"/>
              </a:rPr>
              <a:t> • pedir ajuda sem achar que é fraqueza </a:t>
            </a:r>
            <a:endParaRPr lang="pt-BR" sz="3200">
              <a:latin typeface="Georgia"/>
              <a:ea typeface="+mn-lt"/>
              <a:cs typeface="+mn-lt"/>
            </a:endParaRPr>
          </a:p>
          <a:p>
            <a:r>
              <a:rPr lang="pt-BR" sz="3200" dirty="0">
                <a:latin typeface="Georgia"/>
                <a:ea typeface="+mn-lt"/>
                <a:cs typeface="+mn-lt"/>
              </a:rPr>
              <a:t> • não desistir no primeiro bug</a:t>
            </a:r>
            <a:br>
              <a:rPr lang="pt-BR" sz="3200" dirty="0">
                <a:latin typeface="Georgia"/>
                <a:ea typeface="+mn-lt"/>
                <a:cs typeface="+mn-lt"/>
              </a:rPr>
            </a:br>
            <a:r>
              <a:rPr lang="pt-BR" sz="3200" dirty="0">
                <a:latin typeface="Georgia"/>
                <a:ea typeface="+mn-lt"/>
                <a:cs typeface="+mn-lt"/>
              </a:rPr>
              <a:t> • acreditar que merece aprender</a:t>
            </a:r>
            <a:br>
              <a:rPr lang="pt-BR" sz="3200" dirty="0">
                <a:latin typeface="Georgia"/>
                <a:ea typeface="+mn-lt"/>
                <a:cs typeface="+mn-lt"/>
              </a:rPr>
            </a:br>
            <a:r>
              <a:rPr lang="pt-BR" sz="3200" dirty="0">
                <a:latin typeface="Georgia"/>
                <a:ea typeface="+mn-lt"/>
                <a:cs typeface="+mn-lt"/>
              </a:rPr>
              <a:t> • entender que tecnologia não é um destino inalcançável, é um caminho possível</a:t>
            </a:r>
            <a:endParaRPr lang="pt-BR" sz="3200">
              <a:latin typeface="Georgia"/>
            </a:endParaRPr>
          </a:p>
          <a:p>
            <a:endParaRPr lang="pt-BR" sz="3200" dirty="0">
              <a:latin typeface="Georgia"/>
              <a:ea typeface="+mn-lt"/>
              <a:cs typeface="+mn-lt"/>
            </a:endParaRPr>
          </a:p>
          <a:p>
            <a:r>
              <a:rPr lang="pt-BR" sz="3200" dirty="0">
                <a:latin typeface="Georgia"/>
                <a:ea typeface="+mn-lt"/>
                <a:cs typeface="+mn-lt"/>
              </a:rPr>
              <a:t>Cada pequeno passo é uma linha escrita no código da própria vida.</a:t>
            </a:r>
            <a:br>
              <a:rPr lang="pt-BR" sz="3200" dirty="0">
                <a:latin typeface="Georgia"/>
                <a:ea typeface="+mn-lt"/>
                <a:cs typeface="+mn-lt"/>
              </a:rPr>
            </a:br>
            <a:r>
              <a:rPr lang="pt-BR" sz="3200" dirty="0">
                <a:latin typeface="Georgia"/>
                <a:ea typeface="+mn-lt"/>
                <a:cs typeface="+mn-lt"/>
              </a:rPr>
              <a:t> E quando essas linhas se conectam, nasce algo novo: </a:t>
            </a:r>
            <a:r>
              <a:rPr lang="pt-BR" sz="3200" b="1" dirty="0">
                <a:latin typeface="Georgia"/>
                <a:ea typeface="+mn-lt"/>
                <a:cs typeface="+mn-lt"/>
              </a:rPr>
              <a:t>pertencimento</a:t>
            </a:r>
            <a:r>
              <a:rPr lang="pt-BR" sz="3200" dirty="0">
                <a:latin typeface="Georgia"/>
                <a:ea typeface="+mn-lt"/>
                <a:cs typeface="+mn-lt"/>
              </a:rPr>
              <a:t>.</a:t>
            </a:r>
            <a:endParaRPr lang="pt-BR" sz="3200">
              <a:latin typeface="Georgia"/>
            </a:endParaRPr>
          </a:p>
          <a:p>
            <a:endParaRPr lang="pt-BR" sz="4000" dirty="0"/>
          </a:p>
          <a:p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29227942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A12C5-4F27-26AB-8804-F72670FB9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F2EDCC16-96B3-B24C-FA4B-AF722A5AACA3}"/>
              </a:ext>
            </a:extLst>
          </p:cNvPr>
          <p:cNvSpPr txBox="1"/>
          <p:nvPr/>
        </p:nvSpPr>
        <p:spPr>
          <a:xfrm>
            <a:off x="445782" y="263358"/>
            <a:ext cx="8700501" cy="121571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800" dirty="0">
                <a:latin typeface="MS PGothic"/>
                <a:ea typeface="+mn-lt"/>
                <a:cs typeface="+mn-lt"/>
              </a:rPr>
              <a:t>O RESULTADO COLETIVO: UMA GERAÇÃO QUE NÃO ANDA MAIS SOZINHA</a:t>
            </a:r>
            <a:endParaRPr lang="en-US" sz="4800">
              <a:latin typeface="MS PGothic"/>
              <a:ea typeface="+mn-lt"/>
              <a:cs typeface="+mn-lt"/>
            </a:endParaRPr>
          </a:p>
          <a:p>
            <a:endParaRPr lang="pt-BR" sz="3200" dirty="0">
              <a:ea typeface="+mn-lt"/>
              <a:cs typeface="+mn-lt"/>
            </a:endParaRPr>
          </a:p>
          <a:p>
            <a:r>
              <a:rPr lang="pt-BR" sz="3200" dirty="0">
                <a:latin typeface="Georgia"/>
                <a:ea typeface="+mn-lt"/>
                <a:cs typeface="+mn-lt"/>
              </a:rPr>
              <a:t>Hoje, existem redes, comunidades, mentoras, escolas, cursos gratuitos, grupos de estudo e movimentos sociais inteiros dizendo:</a:t>
            </a:r>
            <a:br>
              <a:rPr lang="pt-BR" sz="3200" dirty="0">
                <a:latin typeface="Georgia"/>
                <a:ea typeface="+mn-lt"/>
                <a:cs typeface="+mn-lt"/>
              </a:rPr>
            </a:br>
            <a:r>
              <a:rPr lang="pt-BR" sz="3200" dirty="0">
                <a:latin typeface="Georgia"/>
                <a:ea typeface="+mn-lt"/>
                <a:cs typeface="+mn-lt"/>
              </a:rPr>
              <a:t> </a:t>
            </a:r>
            <a:r>
              <a:rPr lang="pt-BR" sz="3200" b="1" dirty="0">
                <a:latin typeface="Georgia"/>
                <a:ea typeface="+mn-lt"/>
                <a:cs typeface="+mn-lt"/>
              </a:rPr>
              <a:t>“Nós estamos aqui. E você também pode.”</a:t>
            </a:r>
            <a:endParaRPr lang="pt-BR" sz="3200" dirty="0">
              <a:latin typeface="Georgia"/>
              <a:ea typeface="+mn-lt"/>
              <a:cs typeface="+mn-lt"/>
            </a:endParaRPr>
          </a:p>
          <a:p>
            <a:r>
              <a:rPr lang="pt-BR" sz="3200" dirty="0">
                <a:latin typeface="Georgia"/>
                <a:ea typeface="+mn-lt"/>
                <a:cs typeface="+mn-lt"/>
              </a:rPr>
              <a:t>Onde antes havia silêncio, agora existem mulheres conversando entre si.</a:t>
            </a:r>
            <a:br>
              <a:rPr lang="pt-BR" sz="3200" dirty="0">
                <a:latin typeface="Georgia"/>
                <a:ea typeface="+mn-lt"/>
                <a:cs typeface="+mn-lt"/>
              </a:rPr>
            </a:br>
            <a:r>
              <a:rPr lang="pt-BR" sz="3200" dirty="0">
                <a:latin typeface="Georgia"/>
                <a:ea typeface="+mn-lt"/>
                <a:cs typeface="+mn-lt"/>
              </a:rPr>
              <a:t> Onde antes havia medo, agora existe estratégia.</a:t>
            </a:r>
            <a:br>
              <a:rPr lang="pt-BR" sz="3200" dirty="0">
                <a:latin typeface="Georgia"/>
                <a:ea typeface="+mn-lt"/>
                <a:cs typeface="+mn-lt"/>
              </a:rPr>
            </a:br>
            <a:r>
              <a:rPr lang="pt-BR" sz="3200" dirty="0">
                <a:latin typeface="Georgia"/>
                <a:ea typeface="+mn-lt"/>
                <a:cs typeface="+mn-lt"/>
              </a:rPr>
              <a:t> Onde antes havia solidão, agora existe rede.</a:t>
            </a:r>
            <a:endParaRPr lang="pt-BR" sz="3200">
              <a:latin typeface="Georgia"/>
              <a:ea typeface="+mn-lt"/>
              <a:cs typeface="+mn-lt"/>
            </a:endParaRPr>
          </a:p>
          <a:p>
            <a:endParaRPr lang="pt-BR" sz="3200" dirty="0">
              <a:latin typeface="Georgia"/>
              <a:ea typeface="+mn-lt"/>
              <a:cs typeface="+mn-lt"/>
            </a:endParaRPr>
          </a:p>
          <a:p>
            <a:r>
              <a:rPr lang="pt-BR" sz="3200" dirty="0">
                <a:latin typeface="Georgia"/>
                <a:ea typeface="+mn-lt"/>
                <a:cs typeface="+mn-lt"/>
              </a:rPr>
              <a:t>E quando uma mulher da periferia entra na tecnologia, ela não leva só seu talento.</a:t>
            </a:r>
            <a:br>
              <a:rPr lang="pt-BR" sz="3200" dirty="0">
                <a:latin typeface="Georgia"/>
                <a:ea typeface="+mn-lt"/>
                <a:cs typeface="+mn-lt"/>
              </a:rPr>
            </a:br>
            <a:r>
              <a:rPr lang="pt-BR" sz="3200" dirty="0">
                <a:latin typeface="Georgia"/>
                <a:ea typeface="+mn-lt"/>
                <a:cs typeface="+mn-lt"/>
              </a:rPr>
              <a:t> Ela leva sua criatividade, sua resiliência, sua visão de mundo, seu senso de comunidade, e isso é inovação na sua forma mais pura.</a:t>
            </a:r>
            <a:endParaRPr lang="pt-BR" sz="3200">
              <a:latin typeface="Georgia"/>
              <a:ea typeface="+mn-lt"/>
              <a:cs typeface="+mn-lt"/>
            </a:endParaRPr>
          </a:p>
          <a:p>
            <a:r>
              <a:rPr lang="pt-BR" sz="3200" dirty="0">
                <a:latin typeface="Georgia"/>
                <a:ea typeface="+mn-lt"/>
                <a:cs typeface="+mn-lt"/>
              </a:rPr>
              <a:t>O mercado muda.</a:t>
            </a:r>
          </a:p>
          <a:p>
            <a:r>
              <a:rPr lang="pt-BR" sz="3200" dirty="0">
                <a:latin typeface="Georgia"/>
                <a:ea typeface="+mn-lt"/>
                <a:cs typeface="+mn-lt"/>
              </a:rPr>
              <a:t>As estatísticas mudam.</a:t>
            </a:r>
            <a:br>
              <a:rPr lang="pt-BR" sz="3200" dirty="0">
                <a:latin typeface="Georgia"/>
                <a:ea typeface="+mn-lt"/>
                <a:cs typeface="+mn-lt"/>
              </a:rPr>
            </a:br>
            <a:endParaRPr lang="pt-BR" sz="3200">
              <a:latin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783451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35715-698F-B0D8-4950-EF7C345D3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2A486254-0673-AF96-1140-041BEDE9C9CF}"/>
              </a:ext>
            </a:extLst>
          </p:cNvPr>
          <p:cNvSpPr txBox="1"/>
          <p:nvPr/>
        </p:nvSpPr>
        <p:spPr>
          <a:xfrm>
            <a:off x="445782" y="263358"/>
            <a:ext cx="8700501" cy="1375761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dirty="0">
                <a:latin typeface="Georgia"/>
                <a:ea typeface="+mn-lt"/>
                <a:cs typeface="+mn-lt"/>
              </a:rPr>
              <a:t>As histórias mudam.</a:t>
            </a:r>
            <a:br>
              <a:rPr lang="pt-BR" sz="3200" dirty="0">
                <a:latin typeface="Georgia"/>
                <a:ea typeface="+mn-lt"/>
                <a:cs typeface="+mn-lt"/>
              </a:rPr>
            </a:br>
            <a:r>
              <a:rPr lang="pt-BR" sz="3200" dirty="0">
                <a:latin typeface="Georgia"/>
                <a:ea typeface="+mn-lt"/>
                <a:cs typeface="+mn-lt"/>
              </a:rPr>
              <a:t>O imaginário muda.</a:t>
            </a:r>
          </a:p>
          <a:p>
            <a:r>
              <a:rPr lang="pt-BR" sz="3200" dirty="0">
                <a:latin typeface="Georgia"/>
                <a:ea typeface="+mn-lt"/>
                <a:cs typeface="+mn-lt"/>
              </a:rPr>
              <a:t>Porque quando </a:t>
            </a:r>
            <a:r>
              <a:rPr lang="pt-BR" sz="3200" b="1" dirty="0">
                <a:latin typeface="Georgia"/>
                <a:ea typeface="+mn-lt"/>
                <a:cs typeface="+mn-lt"/>
              </a:rPr>
              <a:t>uma</a:t>
            </a:r>
            <a:r>
              <a:rPr lang="pt-BR" sz="3200" dirty="0">
                <a:latin typeface="Georgia"/>
                <a:ea typeface="+mn-lt"/>
                <a:cs typeface="+mn-lt"/>
              </a:rPr>
              <a:t> chega, muitas deixam de acreditar que “não é para elas”.</a:t>
            </a:r>
          </a:p>
          <a:p>
            <a:endParaRPr lang="pt-BR" sz="3200" dirty="0">
              <a:latin typeface="Georgia"/>
              <a:ea typeface="+mn-lt"/>
              <a:cs typeface="+mn-lt"/>
            </a:endParaRPr>
          </a:p>
          <a:p>
            <a:pPr algn="ctr"/>
            <a:r>
              <a:rPr lang="pt-BR" sz="4800" dirty="0">
                <a:latin typeface="MS PGothic"/>
                <a:ea typeface="+mn-lt"/>
                <a:cs typeface="+mn-lt"/>
              </a:rPr>
              <a:t>O RESULTADO FINAL: A PORTA DE FUTURO QUE VOCÊ TAMBÉM PODE ABRIR</a:t>
            </a:r>
          </a:p>
          <a:p>
            <a:pPr algn="ctr"/>
            <a:endParaRPr lang="pt-BR" sz="4000" dirty="0">
              <a:ea typeface="+mn-lt"/>
              <a:cs typeface="+mn-lt"/>
            </a:endParaRPr>
          </a:p>
          <a:p>
            <a:r>
              <a:rPr lang="pt-BR" sz="3200" dirty="0">
                <a:latin typeface="Georgia"/>
                <a:ea typeface="+mn-lt"/>
                <a:cs typeface="+mn-lt"/>
              </a:rPr>
              <a:t>Este e-book não termina aqui.</a:t>
            </a:r>
            <a:br>
              <a:rPr lang="pt-BR" sz="3200" dirty="0">
                <a:latin typeface="Georgia"/>
                <a:ea typeface="+mn-lt"/>
                <a:cs typeface="+mn-lt"/>
              </a:rPr>
            </a:br>
            <a:r>
              <a:rPr lang="pt-BR" sz="3200" dirty="0">
                <a:latin typeface="Georgia"/>
                <a:ea typeface="+mn-lt"/>
                <a:cs typeface="+mn-lt"/>
              </a:rPr>
              <a:t> Ele termina </a:t>
            </a:r>
            <a:r>
              <a:rPr lang="pt-BR" sz="3200" b="1" dirty="0">
                <a:latin typeface="Georgia"/>
                <a:ea typeface="+mn-lt"/>
                <a:cs typeface="+mn-lt"/>
              </a:rPr>
              <a:t>aí</a:t>
            </a:r>
            <a:r>
              <a:rPr lang="pt-BR" sz="3200" dirty="0">
                <a:latin typeface="Georgia"/>
                <a:ea typeface="+mn-lt"/>
                <a:cs typeface="+mn-lt"/>
              </a:rPr>
              <a:t>, onde você está agora.</a:t>
            </a:r>
            <a:endParaRPr lang="pt-BR" sz="3200">
              <a:latin typeface="Georgia"/>
              <a:ea typeface="+mn-lt"/>
              <a:cs typeface="+mn-lt"/>
            </a:endParaRPr>
          </a:p>
          <a:p>
            <a:r>
              <a:rPr lang="pt-BR" sz="3200" dirty="0">
                <a:latin typeface="Georgia"/>
                <a:ea typeface="+mn-lt"/>
                <a:cs typeface="+mn-lt"/>
              </a:rPr>
              <a:t>No lugar onde você respira fundo e diz:</a:t>
            </a:r>
            <a:br>
              <a:rPr lang="pt-BR" sz="3200" dirty="0">
                <a:latin typeface="Georgia"/>
                <a:ea typeface="+mn-lt"/>
                <a:cs typeface="+mn-lt"/>
              </a:rPr>
            </a:br>
            <a:r>
              <a:rPr lang="pt-BR" sz="3200" dirty="0">
                <a:latin typeface="Georgia"/>
                <a:ea typeface="+mn-lt"/>
                <a:cs typeface="+mn-lt"/>
              </a:rPr>
              <a:t> “Eu também posso começar.”</a:t>
            </a:r>
            <a:br>
              <a:rPr lang="pt-BR" sz="3200" dirty="0">
                <a:latin typeface="Georgia"/>
                <a:ea typeface="+mn-lt"/>
                <a:cs typeface="+mn-lt"/>
              </a:rPr>
            </a:br>
            <a:r>
              <a:rPr lang="pt-BR" sz="3200" dirty="0">
                <a:latin typeface="Georgia"/>
                <a:ea typeface="+mn-lt"/>
                <a:cs typeface="+mn-lt"/>
              </a:rPr>
              <a:t> “Eu também posso aprender.”</a:t>
            </a:r>
            <a:br>
              <a:rPr lang="pt-BR" sz="3200" dirty="0">
                <a:latin typeface="Georgia"/>
                <a:ea typeface="+mn-lt"/>
                <a:cs typeface="+mn-lt"/>
              </a:rPr>
            </a:br>
            <a:r>
              <a:rPr lang="pt-BR" sz="3200" dirty="0">
                <a:latin typeface="Georgia"/>
                <a:ea typeface="+mn-lt"/>
                <a:cs typeface="+mn-lt"/>
              </a:rPr>
              <a:t> “Eu também posso ser a próxima.”</a:t>
            </a:r>
            <a:endParaRPr lang="pt-BR" sz="3200">
              <a:latin typeface="Georgia"/>
              <a:ea typeface="+mn-lt"/>
              <a:cs typeface="+mn-lt"/>
            </a:endParaRPr>
          </a:p>
          <a:p>
            <a:r>
              <a:rPr lang="pt-BR" sz="3200" dirty="0">
                <a:latin typeface="Georgia"/>
                <a:ea typeface="+mn-lt"/>
                <a:cs typeface="+mn-lt"/>
              </a:rPr>
              <a:t>O resultado final não é sobre as mulheres que vieram antes.</a:t>
            </a:r>
            <a:br>
              <a:rPr lang="pt-BR" sz="3200" dirty="0">
                <a:latin typeface="Georgia"/>
                <a:ea typeface="+mn-lt"/>
                <a:cs typeface="+mn-lt"/>
              </a:rPr>
            </a:br>
            <a:endParaRPr lang="pt-BR" sz="3200" dirty="0">
              <a:latin typeface="Georgia"/>
              <a:ea typeface="+mn-lt"/>
              <a:cs typeface="+mn-lt"/>
            </a:endParaRPr>
          </a:p>
          <a:p>
            <a:r>
              <a:rPr lang="pt-BR" sz="3200" dirty="0">
                <a:latin typeface="Georgia"/>
                <a:ea typeface="+mn-lt"/>
                <a:cs typeface="+mn-lt"/>
              </a:rPr>
              <a:t>O resultado final não é sobre as mulheres que vieram antes.</a:t>
            </a:r>
            <a:br>
              <a:rPr lang="pt-BR" sz="3200" dirty="0">
                <a:latin typeface="Georgia"/>
                <a:ea typeface="+mn-lt"/>
                <a:cs typeface="+mn-lt"/>
              </a:rPr>
            </a:br>
            <a:r>
              <a:rPr lang="pt-BR" sz="3200" dirty="0">
                <a:latin typeface="Georgia"/>
                <a:ea typeface="+mn-lt"/>
                <a:cs typeface="+mn-lt"/>
              </a:rPr>
              <a:t> É sobre </a:t>
            </a:r>
            <a:r>
              <a:rPr lang="pt-BR" sz="3200" b="1" dirty="0">
                <a:latin typeface="Georgia"/>
                <a:ea typeface="+mn-lt"/>
                <a:cs typeface="+mn-lt"/>
              </a:rPr>
              <a:t>você</a:t>
            </a:r>
            <a:r>
              <a:rPr lang="pt-BR" sz="3200" dirty="0">
                <a:latin typeface="Georgia"/>
                <a:ea typeface="+mn-lt"/>
                <a:cs typeface="+mn-lt"/>
              </a:rPr>
              <a:t>, que está escolhendo escrever uma nova versão da sua vida.</a:t>
            </a:r>
            <a:endParaRPr lang="pt-BR" sz="3200">
              <a:latin typeface="Georgia"/>
              <a:ea typeface="+mn-lt"/>
              <a:cs typeface="+mn-lt"/>
            </a:endParaRPr>
          </a:p>
          <a:p>
            <a:endParaRPr lang="pt-BR" sz="3200" dirty="0"/>
          </a:p>
          <a:p>
            <a:endParaRPr lang="pt-BR" sz="3200" dirty="0"/>
          </a:p>
          <a:p>
            <a:br>
              <a:rPr lang="pt-BR" sz="3200" dirty="0">
                <a:ea typeface="+mn-lt"/>
                <a:cs typeface="+mn-lt"/>
              </a:rPr>
            </a:br>
            <a:endParaRPr lang="pt-BR" sz="3200"/>
          </a:p>
        </p:txBody>
      </p:sp>
    </p:spTree>
    <p:extLst>
      <p:ext uri="{BB962C8B-B14F-4D97-AF65-F5344CB8AC3E}">
        <p14:creationId xmlns:p14="http://schemas.microsoft.com/office/powerpoint/2010/main" val="3049712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A04C6-3EC2-2797-A063-74165CCBD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2A95A6A6-5553-1C3B-6A39-43C6E6C91CB6}"/>
              </a:ext>
            </a:extLst>
          </p:cNvPr>
          <p:cNvSpPr txBox="1"/>
          <p:nvPr/>
        </p:nvSpPr>
        <p:spPr>
          <a:xfrm>
            <a:off x="445782" y="263358"/>
            <a:ext cx="8700501" cy="747897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dirty="0">
                <a:latin typeface="Georgia"/>
                <a:ea typeface="+mn-lt"/>
                <a:cs typeface="+mn-lt"/>
              </a:rPr>
              <a:t>E que, ao fazer isso, pode ser exatamente a inspiração que outra menina precisa para acreditar que </a:t>
            </a:r>
            <a:r>
              <a:rPr lang="pt-BR" sz="3200" b="1" dirty="0">
                <a:latin typeface="Georgia"/>
                <a:ea typeface="+mn-lt"/>
                <a:cs typeface="+mn-lt"/>
              </a:rPr>
              <a:t>o lugar onde ela nasceu não limita onde ela pode chegar</a:t>
            </a:r>
            <a:r>
              <a:rPr lang="pt-BR" sz="3200" dirty="0">
                <a:latin typeface="Georgia"/>
                <a:ea typeface="+mn-lt"/>
                <a:cs typeface="+mn-lt"/>
              </a:rPr>
              <a:t>.</a:t>
            </a:r>
            <a:endParaRPr lang="pt-BR" sz="3200">
              <a:latin typeface="Georgia"/>
              <a:ea typeface="+mn-lt"/>
              <a:cs typeface="+mn-lt"/>
            </a:endParaRPr>
          </a:p>
          <a:p>
            <a:endParaRPr lang="pt-BR" sz="3200" dirty="0">
              <a:latin typeface="Georgia"/>
              <a:ea typeface="+mn-lt"/>
              <a:cs typeface="+mn-lt"/>
            </a:endParaRPr>
          </a:p>
          <a:p>
            <a:r>
              <a:rPr lang="pt-BR" sz="3200" dirty="0">
                <a:latin typeface="Georgia"/>
                <a:ea typeface="+mn-lt"/>
                <a:cs typeface="+mn-lt"/>
              </a:rPr>
              <a:t>A tecnologia não é distante.</a:t>
            </a:r>
            <a:br>
              <a:rPr lang="pt-BR" sz="3200" dirty="0">
                <a:latin typeface="Georgia"/>
                <a:ea typeface="+mn-lt"/>
                <a:cs typeface="+mn-lt"/>
              </a:rPr>
            </a:br>
            <a:r>
              <a:rPr lang="pt-BR" sz="3200" dirty="0">
                <a:latin typeface="Georgia"/>
                <a:ea typeface="+mn-lt"/>
                <a:cs typeface="+mn-lt"/>
              </a:rPr>
              <a:t>O futuro não é distante.</a:t>
            </a:r>
            <a:br>
              <a:rPr lang="pt-BR" sz="3200" dirty="0">
                <a:latin typeface="Georgia"/>
                <a:ea typeface="+mn-lt"/>
                <a:cs typeface="+mn-lt"/>
              </a:rPr>
            </a:br>
            <a:r>
              <a:rPr lang="pt-BR" sz="3200" dirty="0">
                <a:latin typeface="Georgia"/>
                <a:ea typeface="+mn-lt"/>
                <a:cs typeface="+mn-lt"/>
              </a:rPr>
              <a:t>Eles estão à sua espera.</a:t>
            </a:r>
            <a:endParaRPr lang="pt-BR" sz="3200">
              <a:latin typeface="Georgia"/>
            </a:endParaRPr>
          </a:p>
          <a:p>
            <a:r>
              <a:rPr lang="pt-BR" sz="3200" dirty="0">
                <a:latin typeface="Georgia"/>
                <a:ea typeface="+mn-lt"/>
                <a:cs typeface="+mn-lt"/>
              </a:rPr>
              <a:t>E a pergunta que fica é:</a:t>
            </a:r>
            <a:endParaRPr lang="pt-BR" sz="3200">
              <a:latin typeface="Georgia"/>
              <a:ea typeface="+mn-lt"/>
              <a:cs typeface="+mn-lt"/>
            </a:endParaRPr>
          </a:p>
          <a:p>
            <a:br>
              <a:rPr lang="pt-BR" sz="3200" dirty="0">
                <a:latin typeface="Georgia"/>
                <a:ea typeface="+mn-lt"/>
                <a:cs typeface="+mn-lt"/>
              </a:rPr>
            </a:br>
            <a:r>
              <a:rPr lang="pt-BR" sz="3200" dirty="0">
                <a:latin typeface="Georgia"/>
                <a:ea typeface="+mn-lt"/>
                <a:cs typeface="+mn-lt"/>
              </a:rPr>
              <a:t> </a:t>
            </a:r>
            <a:r>
              <a:rPr lang="pt-BR" sz="3200" b="1" dirty="0">
                <a:latin typeface="Georgia"/>
                <a:ea typeface="+mn-lt"/>
                <a:cs typeface="+mn-lt"/>
              </a:rPr>
              <a:t>Como vai ser a sua história quando você decidir abrir a porta?</a:t>
            </a:r>
            <a:endParaRPr lang="pt-BR" sz="3200">
              <a:latin typeface="Georgia"/>
            </a:endParaRPr>
          </a:p>
          <a:p>
            <a:endParaRPr lang="pt-BR" sz="3200" dirty="0"/>
          </a:p>
          <a:p>
            <a:br>
              <a:rPr lang="pt-BR" sz="3200" dirty="0">
                <a:ea typeface="+mn-lt"/>
                <a:cs typeface="+mn-lt"/>
              </a:rPr>
            </a:br>
            <a:endParaRPr lang="pt-BR" sz="3200"/>
          </a:p>
        </p:txBody>
      </p:sp>
    </p:spTree>
    <p:extLst>
      <p:ext uri="{BB962C8B-B14F-4D97-AF65-F5344CB8AC3E}">
        <p14:creationId xmlns:p14="http://schemas.microsoft.com/office/powerpoint/2010/main" val="9268741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0392D-7E07-D342-E60C-120427AF0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520A1BE-63C1-629E-9E3A-7EFC114F525E}"/>
              </a:ext>
            </a:extLst>
          </p:cNvPr>
          <p:cNvSpPr/>
          <p:nvPr/>
        </p:nvSpPr>
        <p:spPr>
          <a:xfrm>
            <a:off x="0" y="-30773"/>
            <a:ext cx="9693519" cy="12924692"/>
          </a:xfrm>
          <a:prstGeom prst="rect">
            <a:avLst/>
          </a:prstGeom>
          <a:solidFill>
            <a:srgbClr val="151D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3791EB3-B043-FBB2-E105-0FF2315BCF73}"/>
              </a:ext>
            </a:extLst>
          </p:cNvPr>
          <p:cNvSpPr txBox="1"/>
          <p:nvPr/>
        </p:nvSpPr>
        <p:spPr>
          <a:xfrm>
            <a:off x="340056" y="5229096"/>
            <a:ext cx="900952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5400" dirty="0">
                <a:solidFill>
                  <a:srgbClr val="00A7D2"/>
                </a:solidFill>
                <a:latin typeface="MS PGothic"/>
                <a:ea typeface="+mn-lt"/>
                <a:cs typeface="+mn-lt"/>
              </a:rPr>
              <a:t>Agradecimentos</a:t>
            </a:r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2FD896D-F7A1-2361-5961-55FED11C3D42}"/>
              </a:ext>
            </a:extLst>
          </p:cNvPr>
          <p:cNvSpPr txBox="1"/>
          <p:nvPr/>
        </p:nvSpPr>
        <p:spPr>
          <a:xfrm>
            <a:off x="8429237" y="348848"/>
            <a:ext cx="904057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9600" dirty="0">
                <a:solidFill>
                  <a:schemeClr val="bg1"/>
                </a:solidFill>
                <a:latin typeface="MS PGothic"/>
                <a:ea typeface="MS PGothic"/>
              </a:rPr>
              <a:t>5</a:t>
            </a:r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CE9812D-85B5-5D5F-C99A-A93227BF5536}"/>
              </a:ext>
            </a:extLst>
          </p:cNvPr>
          <p:cNvSpPr txBox="1"/>
          <p:nvPr/>
        </p:nvSpPr>
        <p:spPr>
          <a:xfrm>
            <a:off x="810187" y="7283651"/>
            <a:ext cx="8095128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4400" dirty="0">
                <a:solidFill>
                  <a:schemeClr val="bg1"/>
                </a:solidFill>
                <a:latin typeface="MS PGothic"/>
                <a:ea typeface="+mn-lt"/>
                <a:cs typeface="+mn-lt"/>
              </a:rPr>
              <a:t>Onde Minha Jornada Encontra Quem Caminhou Comigo</a:t>
            </a:r>
            <a:endParaRPr lang="pt-BR" sz="4400">
              <a:solidFill>
                <a:schemeClr val="bg1"/>
              </a:solidFill>
              <a:latin typeface="MS PGothic"/>
              <a:ea typeface="MS PGothic"/>
            </a:endParaRPr>
          </a:p>
        </p:txBody>
      </p:sp>
    </p:spTree>
    <p:extLst>
      <p:ext uri="{BB962C8B-B14F-4D97-AF65-F5344CB8AC3E}">
        <p14:creationId xmlns:p14="http://schemas.microsoft.com/office/powerpoint/2010/main" val="39849985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787DE-408F-6476-3B0A-BC099D719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4C2D8133-72DF-EC98-AD43-37F2A2EA722B}"/>
              </a:ext>
            </a:extLst>
          </p:cNvPr>
          <p:cNvSpPr txBox="1"/>
          <p:nvPr/>
        </p:nvSpPr>
        <p:spPr>
          <a:xfrm>
            <a:off x="445782" y="290252"/>
            <a:ext cx="8700501" cy="143731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dirty="0">
                <a:latin typeface="Georgia"/>
                <a:ea typeface="+mn-lt"/>
                <a:cs typeface="+mn-lt"/>
              </a:rPr>
              <a:t>Este livro nasceu de um desejo profundo: transformar minhas vivências, dores, descobertas e pequenas grandes vitórias em algo que pudesse tocar outras mulheres. Mas nenhuma jornada, por mais individual que pareça, é feita sozinha — este capítulo é para agradecer a todos que fizeram parte desse caminho.</a:t>
            </a:r>
          </a:p>
          <a:p>
            <a:endParaRPr lang="pt-BR" sz="3200" dirty="0">
              <a:latin typeface="Georgia"/>
              <a:ea typeface="+mn-lt"/>
              <a:cs typeface="+mn-lt"/>
            </a:endParaRPr>
          </a:p>
          <a:p>
            <a:r>
              <a:rPr lang="pt-BR" sz="3200" dirty="0">
                <a:latin typeface="Georgia"/>
                <a:ea typeface="+mn-lt"/>
                <a:cs typeface="+mn-lt"/>
              </a:rPr>
              <a:t>Meu agradecimento especial à Digital </a:t>
            </a:r>
            <a:r>
              <a:rPr lang="pt-BR" sz="3200" err="1">
                <a:latin typeface="Georgia"/>
                <a:ea typeface="+mn-lt"/>
                <a:cs typeface="+mn-lt"/>
              </a:rPr>
              <a:t>Innovation</a:t>
            </a:r>
            <a:r>
              <a:rPr lang="pt-BR" sz="3200" dirty="0">
                <a:latin typeface="Georgia"/>
                <a:ea typeface="+mn-lt"/>
                <a:cs typeface="+mn-lt"/>
              </a:rPr>
              <a:t> </a:t>
            </a:r>
            <a:r>
              <a:rPr lang="pt-BR" sz="3200" err="1">
                <a:latin typeface="Georgia"/>
                <a:ea typeface="+mn-lt"/>
                <a:cs typeface="+mn-lt"/>
              </a:rPr>
              <a:t>One</a:t>
            </a:r>
            <a:r>
              <a:rPr lang="pt-BR" sz="3200" dirty="0">
                <a:latin typeface="Georgia"/>
                <a:ea typeface="+mn-lt"/>
                <a:cs typeface="+mn-lt"/>
              </a:rPr>
              <a:t> (DIO).</a:t>
            </a:r>
            <a:br>
              <a:rPr lang="pt-BR" sz="3200" dirty="0">
                <a:latin typeface="Georgia"/>
                <a:ea typeface="+mn-lt"/>
                <a:cs typeface="+mn-lt"/>
              </a:rPr>
            </a:br>
            <a:r>
              <a:rPr lang="pt-BR" sz="3200" dirty="0">
                <a:latin typeface="Georgia"/>
                <a:ea typeface="+mn-lt"/>
                <a:cs typeface="+mn-lt"/>
              </a:rPr>
              <a:t> A aula de IA Generativa foi a centelha que acendeu este projeto. Nela percebi que tecnologia não é apenas ferramenta, é ponte, voz e possibilidade. Foi a partir desse aprendizado que este e-book ganhou forma, estrutura e coragem para existir.</a:t>
            </a:r>
          </a:p>
          <a:p>
            <a:endParaRPr lang="pt-BR" sz="3200" dirty="0">
              <a:latin typeface="Georgia"/>
              <a:ea typeface="+mn-lt"/>
              <a:cs typeface="+mn-lt"/>
            </a:endParaRPr>
          </a:p>
          <a:p>
            <a:r>
              <a:rPr lang="pt-BR" sz="3200" dirty="0">
                <a:latin typeface="Georgia"/>
                <a:ea typeface="+mn-lt"/>
                <a:cs typeface="+mn-lt"/>
              </a:rPr>
              <a:t>Este livro foi escrito com o apoio de uma Inteligência Artificial, mas foi sentido, sonhado e diagramado por mim, Ana Paula. Cada escolha de palavra, cada ajuste, cada página carregou um pedaço do meu olhar e da minha história. Porque, apesar de ter sido criado com IA, este e-book é profundamente humano.</a:t>
            </a:r>
          </a:p>
          <a:p>
            <a:endParaRPr lang="pt-BR" sz="3200" dirty="0">
              <a:latin typeface="Georgia"/>
            </a:endParaRPr>
          </a:p>
          <a:p>
            <a:endParaRPr lang="pt-BR" sz="3200" dirty="0"/>
          </a:p>
          <a:p>
            <a:br>
              <a:rPr lang="pt-BR" sz="3200" dirty="0">
                <a:ea typeface="+mn-lt"/>
                <a:cs typeface="+mn-lt"/>
              </a:rPr>
            </a:br>
            <a:endParaRPr lang="pt-BR" sz="3200"/>
          </a:p>
        </p:txBody>
      </p:sp>
    </p:spTree>
    <p:extLst>
      <p:ext uri="{BB962C8B-B14F-4D97-AF65-F5344CB8AC3E}">
        <p14:creationId xmlns:p14="http://schemas.microsoft.com/office/powerpoint/2010/main" val="28880461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ED70F-4437-442E-D9E2-5D7047641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061CF3B8-78D2-8581-67A3-AACB91A154F4}"/>
              </a:ext>
            </a:extLst>
          </p:cNvPr>
          <p:cNvSpPr txBox="1"/>
          <p:nvPr/>
        </p:nvSpPr>
        <p:spPr>
          <a:xfrm>
            <a:off x="445782" y="263358"/>
            <a:ext cx="8700501" cy="128958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dirty="0">
                <a:latin typeface="Georgia"/>
                <a:ea typeface="+mn-lt"/>
                <a:cs typeface="+mn-lt"/>
              </a:rPr>
              <a:t>Agradeço a todos que acreditaram em mim quando eu mesma duvidei.</a:t>
            </a:r>
            <a:br>
              <a:rPr lang="pt-BR" sz="3200" dirty="0">
                <a:latin typeface="Georgia"/>
                <a:ea typeface="+mn-lt"/>
                <a:cs typeface="+mn-lt"/>
              </a:rPr>
            </a:br>
            <a:r>
              <a:rPr lang="pt-BR" sz="3200" dirty="0">
                <a:latin typeface="Georgia"/>
                <a:ea typeface="+mn-lt"/>
                <a:cs typeface="+mn-lt"/>
              </a:rPr>
              <a:t> A quem disse “vai”, quando o medo dizia “fica”.</a:t>
            </a:r>
            <a:br>
              <a:rPr lang="pt-BR" sz="3200" dirty="0">
                <a:latin typeface="Georgia"/>
                <a:ea typeface="+mn-lt"/>
                <a:cs typeface="+mn-lt"/>
              </a:rPr>
            </a:br>
            <a:r>
              <a:rPr lang="pt-BR" sz="3200" dirty="0">
                <a:latin typeface="Georgia"/>
                <a:ea typeface="+mn-lt"/>
                <a:cs typeface="+mn-lt"/>
              </a:rPr>
              <a:t> A quem olhou para mim e enxerga não apenas quem eu sou, mas quem eu posso me tornar.</a:t>
            </a:r>
            <a:br>
              <a:rPr lang="pt-BR" sz="3200" dirty="0">
                <a:latin typeface="Georgia"/>
                <a:ea typeface="+mn-lt"/>
                <a:cs typeface="+mn-lt"/>
              </a:rPr>
            </a:br>
            <a:r>
              <a:rPr lang="pt-BR" sz="3200" dirty="0">
                <a:latin typeface="Georgia"/>
                <a:ea typeface="+mn-lt"/>
                <a:cs typeface="+mn-lt"/>
              </a:rPr>
              <a:t> Vocês foram chão, impulso e afeto.</a:t>
            </a:r>
            <a:endParaRPr lang="pt-BR" sz="3200">
              <a:latin typeface="Georgia"/>
              <a:ea typeface="+mn-lt"/>
              <a:cs typeface="+mn-lt"/>
            </a:endParaRPr>
          </a:p>
          <a:p>
            <a:r>
              <a:rPr lang="pt-BR" sz="3200" dirty="0">
                <a:latin typeface="Georgia"/>
                <a:ea typeface="+mn-lt"/>
                <a:cs typeface="+mn-lt"/>
              </a:rPr>
              <a:t>Este e-book é inspirado na minha própria jornada, uma jornada feita de esforço silencioso, de recomeços, de abraços que sustentam, de noites que viraram manhãs de esperança.</a:t>
            </a:r>
            <a:br>
              <a:rPr lang="pt-BR" sz="3200" dirty="0">
                <a:latin typeface="Georgia"/>
                <a:ea typeface="+mn-lt"/>
                <a:cs typeface="+mn-lt"/>
              </a:rPr>
            </a:br>
            <a:r>
              <a:rPr lang="pt-BR" sz="3200" dirty="0">
                <a:latin typeface="Georgia"/>
                <a:ea typeface="+mn-lt"/>
                <a:cs typeface="+mn-lt"/>
              </a:rPr>
              <a:t> É também o reflexo das mulheres que vieram antes de mim e das que virão depois. Mulheres que, assim como eu, acreditam que a tecnologia pode ser um caminho, mas que nossa essência sempre será aquilo que realmente nos move.</a:t>
            </a:r>
            <a:endParaRPr lang="pt-BR" sz="3200">
              <a:latin typeface="Georgia"/>
              <a:ea typeface="+mn-lt"/>
              <a:cs typeface="+mn-lt"/>
            </a:endParaRPr>
          </a:p>
          <a:p>
            <a:r>
              <a:rPr lang="pt-BR" sz="3200" dirty="0">
                <a:latin typeface="Georgia"/>
                <a:ea typeface="+mn-lt"/>
                <a:cs typeface="+mn-lt"/>
              </a:rPr>
              <a:t>Obrigada por caminharem comigo.</a:t>
            </a:r>
            <a:br>
              <a:rPr lang="pt-BR" sz="3200" dirty="0">
                <a:latin typeface="Georgia"/>
                <a:ea typeface="+mn-lt"/>
                <a:cs typeface="+mn-lt"/>
              </a:rPr>
            </a:br>
            <a:r>
              <a:rPr lang="pt-BR" sz="3200" dirty="0">
                <a:latin typeface="Georgia"/>
                <a:ea typeface="+mn-lt"/>
                <a:cs typeface="+mn-lt"/>
              </a:rPr>
              <a:t> Obrigada por acreditarem que eu podia criar algo que fosse além de páginas:</a:t>
            </a:r>
            <a:br>
              <a:rPr lang="pt-BR" sz="3200" dirty="0">
                <a:latin typeface="Georgia"/>
                <a:ea typeface="+mn-lt"/>
                <a:cs typeface="+mn-lt"/>
              </a:rPr>
            </a:br>
            <a:r>
              <a:rPr lang="pt-BR" sz="3200" dirty="0">
                <a:latin typeface="Georgia"/>
                <a:ea typeface="+mn-lt"/>
                <a:cs typeface="+mn-lt"/>
              </a:rPr>
              <a:t> algo que tocasse, inspirasse e transformasse.</a:t>
            </a:r>
            <a:endParaRPr lang="pt-BR" sz="3200">
              <a:latin typeface="Georgia"/>
            </a:endParaRPr>
          </a:p>
          <a:p>
            <a:r>
              <a:rPr lang="pt-BR" sz="3200" dirty="0">
                <a:latin typeface="Georgia"/>
                <a:ea typeface="+mn-lt"/>
                <a:cs typeface="+mn-lt"/>
              </a:rPr>
              <a:t>Que este livro encontre corações que precisem dele.</a:t>
            </a:r>
            <a:endParaRPr lang="pt-BR" sz="3200">
              <a:latin typeface="Georgia"/>
              <a:ea typeface="+mn-lt"/>
              <a:cs typeface="+mn-lt"/>
            </a:endParaRPr>
          </a:p>
          <a:p>
            <a:r>
              <a:rPr lang="pt-BR" sz="3200" dirty="0">
                <a:latin typeface="Georgia"/>
                <a:ea typeface="+mn-lt"/>
                <a:cs typeface="+mn-lt"/>
              </a:rPr>
              <a:t>E que ele lembre a cada leitor que...</a:t>
            </a:r>
            <a:br>
              <a:rPr lang="pt-BR" sz="3200" dirty="0">
                <a:ea typeface="+mn-lt"/>
                <a:cs typeface="+mn-lt"/>
              </a:rPr>
            </a:br>
            <a:endParaRPr lang="pt-BR" sz="3200"/>
          </a:p>
        </p:txBody>
      </p:sp>
    </p:spTree>
    <p:extLst>
      <p:ext uri="{BB962C8B-B14F-4D97-AF65-F5344CB8AC3E}">
        <p14:creationId xmlns:p14="http://schemas.microsoft.com/office/powerpoint/2010/main" val="18167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5C4EE-0BC3-CF78-B76D-561574DD5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6B2388D-4852-8451-009A-9232A9342579}"/>
              </a:ext>
            </a:extLst>
          </p:cNvPr>
          <p:cNvSpPr txBox="1"/>
          <p:nvPr/>
        </p:nvSpPr>
        <p:spPr>
          <a:xfrm>
            <a:off x="687829" y="3678911"/>
            <a:ext cx="8700501" cy="69865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dirty="0">
                <a:latin typeface="Georgia"/>
                <a:ea typeface="+mn-lt"/>
                <a:cs typeface="+mn-lt"/>
              </a:rPr>
              <a:t> </a:t>
            </a:r>
            <a:r>
              <a:rPr lang="pt-BR" sz="3200" b="1" dirty="0">
                <a:latin typeface="Georgia"/>
                <a:ea typeface="+mn-lt"/>
                <a:cs typeface="+mn-lt"/>
              </a:rPr>
              <a:t>Nenhum sonho é pequeno demais quando nasce da verdade de quem somos</a:t>
            </a:r>
            <a:r>
              <a:rPr lang="pt-BR" sz="3200" dirty="0">
                <a:latin typeface="Georgia"/>
                <a:ea typeface="+mn-lt"/>
                <a:cs typeface="+mn-lt"/>
              </a:rPr>
              <a:t>.</a:t>
            </a:r>
          </a:p>
          <a:p>
            <a:endParaRPr lang="pt-BR" sz="3200" dirty="0">
              <a:latin typeface="Georgia"/>
              <a:ea typeface="+mn-lt"/>
              <a:cs typeface="+mn-lt"/>
            </a:endParaRPr>
          </a:p>
          <a:p>
            <a:endParaRPr lang="pt-BR" sz="3200" dirty="0">
              <a:latin typeface="Georgia"/>
              <a:ea typeface="+mn-lt"/>
              <a:cs typeface="+mn-lt"/>
            </a:endParaRPr>
          </a:p>
          <a:p>
            <a:r>
              <a:rPr lang="pt-BR" sz="3200" dirty="0">
                <a:latin typeface="Georgia"/>
                <a:ea typeface="+mn-lt"/>
                <a:cs typeface="+mn-lt"/>
              </a:rPr>
              <a:t>Com carinho,</a:t>
            </a:r>
            <a:br>
              <a:rPr lang="pt-BR" sz="3200" dirty="0">
                <a:latin typeface="Georgia"/>
                <a:ea typeface="+mn-lt"/>
                <a:cs typeface="+mn-lt"/>
              </a:rPr>
            </a:br>
            <a:r>
              <a:rPr lang="pt-BR" sz="3200" dirty="0">
                <a:latin typeface="Georgia"/>
                <a:ea typeface="+mn-lt"/>
                <a:cs typeface="+mn-lt"/>
              </a:rPr>
              <a:t> </a:t>
            </a:r>
            <a:r>
              <a:rPr lang="pt-BR" sz="3200" b="1" dirty="0">
                <a:latin typeface="Georgia"/>
                <a:ea typeface="+mn-lt"/>
                <a:cs typeface="+mn-lt"/>
              </a:rPr>
              <a:t>Ana Paula Santana</a:t>
            </a:r>
            <a:br>
              <a:rPr lang="pt-BR" sz="3200" b="1" dirty="0">
                <a:latin typeface="Georgia"/>
                <a:ea typeface="+mn-lt"/>
                <a:cs typeface="+mn-lt"/>
              </a:rPr>
            </a:br>
            <a:r>
              <a:rPr lang="pt-BR" sz="3200" b="1" dirty="0">
                <a:latin typeface="Georgia"/>
                <a:ea typeface="+mn-lt"/>
                <a:cs typeface="+mn-lt"/>
              </a:rPr>
              <a:t> Criadora, sonhadora e autora das entrelinhas.</a:t>
            </a:r>
          </a:p>
          <a:p>
            <a:endParaRPr lang="pt-BR" sz="3200" dirty="0"/>
          </a:p>
          <a:p>
            <a:br>
              <a:rPr lang="pt-BR" sz="3200" dirty="0">
                <a:ea typeface="+mn-lt"/>
                <a:cs typeface="+mn-lt"/>
              </a:rPr>
            </a:br>
            <a:endParaRPr lang="pt-BR" sz="3200">
              <a:ea typeface="+mn-lt"/>
              <a:cs typeface="+mn-lt"/>
            </a:endParaRPr>
          </a:p>
          <a:p>
            <a:br>
              <a:rPr lang="pt-BR" sz="3200" dirty="0">
                <a:ea typeface="+mn-lt"/>
                <a:cs typeface="+mn-lt"/>
              </a:rPr>
            </a:br>
            <a:endParaRPr lang="pt-BR" sz="3200"/>
          </a:p>
        </p:txBody>
      </p:sp>
    </p:spTree>
    <p:extLst>
      <p:ext uri="{BB962C8B-B14F-4D97-AF65-F5344CB8AC3E}">
        <p14:creationId xmlns:p14="http://schemas.microsoft.com/office/powerpoint/2010/main" val="16618280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Papel A3 (297 x 420 mm)</PresentationFormat>
  <Paragraphs>0</Paragraphs>
  <Slides>23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4" baseType="lpstr"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619</cp:revision>
  <dcterms:created xsi:type="dcterms:W3CDTF">2025-10-23T07:00:07Z</dcterms:created>
  <dcterms:modified xsi:type="dcterms:W3CDTF">2025-11-16T06:58:55Z</dcterms:modified>
</cp:coreProperties>
</file>